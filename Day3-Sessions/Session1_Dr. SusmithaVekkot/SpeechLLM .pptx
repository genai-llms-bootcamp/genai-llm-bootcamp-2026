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774" r:id="rId2"/>
    <p:sldId id="784" r:id="rId3"/>
    <p:sldId id="781" r:id="rId4"/>
    <p:sldId id="787" r:id="rId5"/>
    <p:sldId id="782" r:id="rId6"/>
    <p:sldId id="789" r:id="rId7"/>
    <p:sldId id="256" r:id="rId8"/>
    <p:sldId id="260" r:id="rId9"/>
    <p:sldId id="262" r:id="rId10"/>
    <p:sldId id="775" r:id="rId11"/>
    <p:sldId id="776" r:id="rId12"/>
    <p:sldId id="777" r:id="rId13"/>
    <p:sldId id="261" r:id="rId14"/>
    <p:sldId id="785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CA18C5-C7B7-DD92-C61C-37BB66698638}" v="161" dt="2026-04-02T10:39:19.424"/>
    <p1510:client id="{45C0DBE0-DF8D-0144-825D-91C0FB2EFC2B}" v="23" dt="2026-04-03T05:57:52.722"/>
    <p1510:client id="{F1A95E9C-764D-AC0F-2BA6-A937B5EBA990}" v="39" dt="2026-04-03T05:28:00.159"/>
    <p1510:client id="{F55237AD-9F8E-85CE-6054-32ED1BDA397A}" v="16" dt="2026-04-03T05:56:23.502"/>
    <p1510:client id="{F8F4ED52-27B7-E97F-6A73-1B7ECB9F1E27}" v="6" dt="2026-04-03T05:30:22.3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8"/>
  </p:normalViewPr>
  <p:slideViewPr>
    <p:cSldViewPr snapToGrid="0">
      <p:cViewPr varScale="1">
        <p:scale>
          <a:sx n="91" d="100"/>
          <a:sy n="91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62BFE8-9EB1-47EF-83B2-4D36E6A5BBA7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93861B-B614-46DB-BDC7-6FF960A37224}">
      <dgm:prSet/>
      <dgm:spPr/>
      <dgm:t>
        <a:bodyPr/>
        <a:lstStyle/>
        <a:p>
          <a:r>
            <a:rPr lang="en-US"/>
            <a:t>Audio Formats Used in Speech LLM Pipelines</a:t>
          </a:r>
        </a:p>
      </dgm:t>
    </dgm:pt>
    <dgm:pt modelId="{A9B75BCF-5AED-4965-A7A3-2C22FCA5E03F}" type="parTrans" cxnId="{DD0073E2-4200-4873-9705-D0B461B75E37}">
      <dgm:prSet/>
      <dgm:spPr/>
      <dgm:t>
        <a:bodyPr/>
        <a:lstStyle/>
        <a:p>
          <a:endParaRPr lang="en-US"/>
        </a:p>
      </dgm:t>
    </dgm:pt>
    <dgm:pt modelId="{F0BAD0B5-517C-4EF9-BB2E-9F5058CE838F}" type="sibTrans" cxnId="{DD0073E2-4200-4873-9705-D0B461B75E37}">
      <dgm:prSet/>
      <dgm:spPr/>
      <dgm:t>
        <a:bodyPr/>
        <a:lstStyle/>
        <a:p>
          <a:endParaRPr lang="en-US"/>
        </a:p>
      </dgm:t>
    </dgm:pt>
    <dgm:pt modelId="{D31B0269-01A1-4FE4-83CC-C9B624D45F98}">
      <dgm:prSet/>
      <dgm:spPr/>
      <dgm:t>
        <a:bodyPr/>
        <a:lstStyle/>
        <a:p>
          <a:r>
            <a:rPr lang="en-US"/>
            <a:t>WAV (.wav), FLAC (.flac), MP3 (.mp3), M4A (.m4a), OGG (.ogg)</a:t>
          </a:r>
        </a:p>
      </dgm:t>
    </dgm:pt>
    <dgm:pt modelId="{FC5325C6-D2C9-49BA-BB2C-EE5B666DD4E4}" type="parTrans" cxnId="{370AE05C-AA01-485B-8A9E-B4E081FCBC39}">
      <dgm:prSet/>
      <dgm:spPr/>
      <dgm:t>
        <a:bodyPr/>
        <a:lstStyle/>
        <a:p>
          <a:endParaRPr lang="en-US"/>
        </a:p>
      </dgm:t>
    </dgm:pt>
    <dgm:pt modelId="{841BE180-E8E4-4F7C-A209-12B78D52E09A}" type="sibTrans" cxnId="{370AE05C-AA01-485B-8A9E-B4E081FCBC39}">
      <dgm:prSet/>
      <dgm:spPr/>
      <dgm:t>
        <a:bodyPr/>
        <a:lstStyle/>
        <a:p>
          <a:endParaRPr lang="en-US"/>
        </a:p>
      </dgm:t>
    </dgm:pt>
    <dgm:pt modelId="{A3EA7CD2-3D83-463B-ACFB-A3A9B35A1D67}">
      <dgm:prSet/>
      <dgm:spPr/>
      <dgm:t>
        <a:bodyPr/>
        <a:lstStyle/>
        <a:p>
          <a:r>
            <a:rPr lang="en-US"/>
            <a:t>Standard Sampling Rates Used in Speech Models</a:t>
          </a:r>
        </a:p>
      </dgm:t>
    </dgm:pt>
    <dgm:pt modelId="{6E546398-3A4C-4EE3-A313-2AAE82156D12}" type="parTrans" cxnId="{EA536BFB-74C2-417D-A5B0-548156B3DBB9}">
      <dgm:prSet/>
      <dgm:spPr/>
      <dgm:t>
        <a:bodyPr/>
        <a:lstStyle/>
        <a:p>
          <a:endParaRPr lang="en-US"/>
        </a:p>
      </dgm:t>
    </dgm:pt>
    <dgm:pt modelId="{662B4329-D083-47E6-BB96-EB2473B7EA56}" type="sibTrans" cxnId="{EA536BFB-74C2-417D-A5B0-548156B3DBB9}">
      <dgm:prSet/>
      <dgm:spPr/>
      <dgm:t>
        <a:bodyPr/>
        <a:lstStyle/>
        <a:p>
          <a:endParaRPr lang="en-US"/>
        </a:p>
      </dgm:t>
    </dgm:pt>
    <dgm:pt modelId="{507E6F7F-3AF8-4D9D-9C24-6920AC119152}">
      <dgm:prSet/>
      <dgm:spPr/>
      <dgm:t>
        <a:bodyPr/>
        <a:lstStyle/>
        <a:p>
          <a:r>
            <a:rPr lang="en-US"/>
            <a:t>8 kHz(telephony speech), 16 kHz(Whisper, HuBERT, Wav2Vec2), 44.1 kHz(music recordings)</a:t>
          </a:r>
        </a:p>
      </dgm:t>
    </dgm:pt>
    <dgm:pt modelId="{B2181BBB-485D-45D4-8884-816836BF5694}" type="parTrans" cxnId="{51188AA5-848C-4EB1-993A-4641D87BA748}">
      <dgm:prSet/>
      <dgm:spPr/>
      <dgm:t>
        <a:bodyPr/>
        <a:lstStyle/>
        <a:p>
          <a:endParaRPr lang="en-US"/>
        </a:p>
      </dgm:t>
    </dgm:pt>
    <dgm:pt modelId="{5A20599F-EC12-45F4-9FB7-DFC94409B88C}" type="sibTrans" cxnId="{51188AA5-848C-4EB1-993A-4641D87BA748}">
      <dgm:prSet/>
      <dgm:spPr/>
      <dgm:t>
        <a:bodyPr/>
        <a:lstStyle/>
        <a:p>
          <a:endParaRPr lang="en-US"/>
        </a:p>
      </dgm:t>
    </dgm:pt>
    <dgm:pt modelId="{043FA8E3-3507-42E3-98EA-F5425153606A}">
      <dgm:prSet/>
      <dgm:spPr/>
      <dgm:t>
        <a:bodyPr/>
        <a:lstStyle/>
        <a:p>
          <a:r>
            <a:rPr lang="en-US"/>
            <a:t>Standard Speech Datasets Used in ASR and Speech-LLMs </a:t>
          </a:r>
        </a:p>
      </dgm:t>
    </dgm:pt>
    <dgm:pt modelId="{6859C2D4-6ABF-4D94-9363-C0EA6A952DA6}" type="parTrans" cxnId="{244EB79A-E3D6-418C-96A7-F49360CA61E2}">
      <dgm:prSet/>
      <dgm:spPr/>
      <dgm:t>
        <a:bodyPr/>
        <a:lstStyle/>
        <a:p>
          <a:endParaRPr lang="en-US"/>
        </a:p>
      </dgm:t>
    </dgm:pt>
    <dgm:pt modelId="{CBF37C8A-F434-4DBC-9A1B-17BD0637EF18}" type="sibTrans" cxnId="{244EB79A-E3D6-418C-96A7-F49360CA61E2}">
      <dgm:prSet/>
      <dgm:spPr/>
      <dgm:t>
        <a:bodyPr/>
        <a:lstStyle/>
        <a:p>
          <a:endParaRPr lang="en-US"/>
        </a:p>
      </dgm:t>
    </dgm:pt>
    <dgm:pt modelId="{A9AA0D4E-ECA4-47AF-A05C-DEFDA80A116A}">
      <dgm:prSet/>
      <dgm:spPr/>
      <dgm:t>
        <a:bodyPr/>
        <a:lstStyle/>
        <a:p>
          <a:r>
            <a:rPr lang="en-US"/>
            <a:t>LibriSpeech(1000 hours of English speech)</a:t>
          </a:r>
        </a:p>
      </dgm:t>
    </dgm:pt>
    <dgm:pt modelId="{B65774A6-46D6-428A-8402-59B6EC9912CB}" type="parTrans" cxnId="{F37262E2-BD51-45A1-ABF0-05F535F664DC}">
      <dgm:prSet/>
      <dgm:spPr/>
      <dgm:t>
        <a:bodyPr/>
        <a:lstStyle/>
        <a:p>
          <a:endParaRPr lang="en-US"/>
        </a:p>
      </dgm:t>
    </dgm:pt>
    <dgm:pt modelId="{679F6D1F-9CDC-45AE-861F-E4BB82CF6DB0}" type="sibTrans" cxnId="{F37262E2-BD51-45A1-ABF0-05F535F664DC}">
      <dgm:prSet/>
      <dgm:spPr/>
      <dgm:t>
        <a:bodyPr/>
        <a:lstStyle/>
        <a:p>
          <a:endParaRPr lang="en-US"/>
        </a:p>
      </dgm:t>
    </dgm:pt>
    <dgm:pt modelId="{DF38264B-7DD4-48F1-B056-3A03DF1A466D}" type="pres">
      <dgm:prSet presAssocID="{FB62BFE8-9EB1-47EF-83B2-4D36E6A5BBA7}" presName="Name0" presStyleCnt="0">
        <dgm:presLayoutVars>
          <dgm:dir/>
          <dgm:animLvl val="lvl"/>
          <dgm:resizeHandles val="exact"/>
        </dgm:presLayoutVars>
      </dgm:prSet>
      <dgm:spPr/>
    </dgm:pt>
    <dgm:pt modelId="{C3F08E9A-3C1A-42B5-8924-7C31557276A8}" type="pres">
      <dgm:prSet presAssocID="{EC93861B-B614-46DB-BDC7-6FF960A37224}" presName="composite" presStyleCnt="0"/>
      <dgm:spPr/>
    </dgm:pt>
    <dgm:pt modelId="{476CDEF6-9F79-43E3-9749-56C5996914B8}" type="pres">
      <dgm:prSet presAssocID="{EC93861B-B614-46DB-BDC7-6FF960A3722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8128B96-E3C0-4D50-8FF3-9CC69B6C9B2C}" type="pres">
      <dgm:prSet presAssocID="{EC93861B-B614-46DB-BDC7-6FF960A37224}" presName="desTx" presStyleLbl="alignAccFollowNode1" presStyleIdx="0" presStyleCnt="3">
        <dgm:presLayoutVars>
          <dgm:bulletEnabled val="1"/>
        </dgm:presLayoutVars>
      </dgm:prSet>
      <dgm:spPr/>
    </dgm:pt>
    <dgm:pt modelId="{DAF220C1-60D5-4B9E-8E34-646C5AB81E5A}" type="pres">
      <dgm:prSet presAssocID="{F0BAD0B5-517C-4EF9-BB2E-9F5058CE838F}" presName="space" presStyleCnt="0"/>
      <dgm:spPr/>
    </dgm:pt>
    <dgm:pt modelId="{8DAE5CF6-51D2-4F51-8222-7E711FB2F4F8}" type="pres">
      <dgm:prSet presAssocID="{A3EA7CD2-3D83-463B-ACFB-A3A9B35A1D67}" presName="composite" presStyleCnt="0"/>
      <dgm:spPr/>
    </dgm:pt>
    <dgm:pt modelId="{3604EA49-432D-4482-9FF1-42C587099B81}" type="pres">
      <dgm:prSet presAssocID="{A3EA7CD2-3D83-463B-ACFB-A3A9B35A1D6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609B44D-DDD3-493F-9034-9925A8211FA3}" type="pres">
      <dgm:prSet presAssocID="{A3EA7CD2-3D83-463B-ACFB-A3A9B35A1D67}" presName="desTx" presStyleLbl="alignAccFollowNode1" presStyleIdx="1" presStyleCnt="3">
        <dgm:presLayoutVars>
          <dgm:bulletEnabled val="1"/>
        </dgm:presLayoutVars>
      </dgm:prSet>
      <dgm:spPr/>
    </dgm:pt>
    <dgm:pt modelId="{E9A39844-BFA3-4B61-8DF9-648DFB034F11}" type="pres">
      <dgm:prSet presAssocID="{662B4329-D083-47E6-BB96-EB2473B7EA56}" presName="space" presStyleCnt="0"/>
      <dgm:spPr/>
    </dgm:pt>
    <dgm:pt modelId="{01DA079A-868F-46D3-97A6-087D1F1E5B48}" type="pres">
      <dgm:prSet presAssocID="{043FA8E3-3507-42E3-98EA-F5425153606A}" presName="composite" presStyleCnt="0"/>
      <dgm:spPr/>
    </dgm:pt>
    <dgm:pt modelId="{945D228E-9F36-4170-B076-AD3A1105480E}" type="pres">
      <dgm:prSet presAssocID="{043FA8E3-3507-42E3-98EA-F5425153606A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DB00581-B4AB-48F6-B348-38206B59E896}" type="pres">
      <dgm:prSet presAssocID="{043FA8E3-3507-42E3-98EA-F5425153606A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DB24B01-A8ED-4399-8E1E-ACBA134DF050}" type="presOf" srcId="{507E6F7F-3AF8-4D9D-9C24-6920AC119152}" destId="{C609B44D-DDD3-493F-9034-9925A8211FA3}" srcOrd="0" destOrd="0" presId="urn:microsoft.com/office/officeart/2005/8/layout/hList1"/>
    <dgm:cxn modelId="{A0A91A20-2CA4-4598-B0EF-3DFD84E62734}" type="presOf" srcId="{A9AA0D4E-ECA4-47AF-A05C-DEFDA80A116A}" destId="{7DB00581-B4AB-48F6-B348-38206B59E896}" srcOrd="0" destOrd="0" presId="urn:microsoft.com/office/officeart/2005/8/layout/hList1"/>
    <dgm:cxn modelId="{370AE05C-AA01-485B-8A9E-B4E081FCBC39}" srcId="{EC93861B-B614-46DB-BDC7-6FF960A37224}" destId="{D31B0269-01A1-4FE4-83CC-C9B624D45F98}" srcOrd="0" destOrd="0" parTransId="{FC5325C6-D2C9-49BA-BB2C-EE5B666DD4E4}" sibTransId="{841BE180-E8E4-4F7C-A209-12B78D52E09A}"/>
    <dgm:cxn modelId="{91EE1A5F-012F-48BA-BF63-7C10BAC88CCD}" type="presOf" srcId="{A3EA7CD2-3D83-463B-ACFB-A3A9B35A1D67}" destId="{3604EA49-432D-4482-9FF1-42C587099B81}" srcOrd="0" destOrd="0" presId="urn:microsoft.com/office/officeart/2005/8/layout/hList1"/>
    <dgm:cxn modelId="{9CC2DB60-158E-4047-A576-E28219E153DE}" type="presOf" srcId="{D31B0269-01A1-4FE4-83CC-C9B624D45F98}" destId="{F8128B96-E3C0-4D50-8FF3-9CC69B6C9B2C}" srcOrd="0" destOrd="0" presId="urn:microsoft.com/office/officeart/2005/8/layout/hList1"/>
    <dgm:cxn modelId="{FE5E4084-D7EC-4ECF-B784-E58494658DBE}" type="presOf" srcId="{EC93861B-B614-46DB-BDC7-6FF960A37224}" destId="{476CDEF6-9F79-43E3-9749-56C5996914B8}" srcOrd="0" destOrd="0" presId="urn:microsoft.com/office/officeart/2005/8/layout/hList1"/>
    <dgm:cxn modelId="{1FB01D8E-2F91-472D-908E-1106F85421D7}" type="presOf" srcId="{FB62BFE8-9EB1-47EF-83B2-4D36E6A5BBA7}" destId="{DF38264B-7DD4-48F1-B056-3A03DF1A466D}" srcOrd="0" destOrd="0" presId="urn:microsoft.com/office/officeart/2005/8/layout/hList1"/>
    <dgm:cxn modelId="{244EB79A-E3D6-418C-96A7-F49360CA61E2}" srcId="{FB62BFE8-9EB1-47EF-83B2-4D36E6A5BBA7}" destId="{043FA8E3-3507-42E3-98EA-F5425153606A}" srcOrd="2" destOrd="0" parTransId="{6859C2D4-6ABF-4D94-9363-C0EA6A952DA6}" sibTransId="{CBF37C8A-F434-4DBC-9A1B-17BD0637EF18}"/>
    <dgm:cxn modelId="{F972F3A1-8420-4613-9CF6-A6352AC52686}" type="presOf" srcId="{043FA8E3-3507-42E3-98EA-F5425153606A}" destId="{945D228E-9F36-4170-B076-AD3A1105480E}" srcOrd="0" destOrd="0" presId="urn:microsoft.com/office/officeart/2005/8/layout/hList1"/>
    <dgm:cxn modelId="{51188AA5-848C-4EB1-993A-4641D87BA748}" srcId="{A3EA7CD2-3D83-463B-ACFB-A3A9B35A1D67}" destId="{507E6F7F-3AF8-4D9D-9C24-6920AC119152}" srcOrd="0" destOrd="0" parTransId="{B2181BBB-485D-45D4-8884-816836BF5694}" sibTransId="{5A20599F-EC12-45F4-9FB7-DFC94409B88C}"/>
    <dgm:cxn modelId="{F37262E2-BD51-45A1-ABF0-05F535F664DC}" srcId="{043FA8E3-3507-42E3-98EA-F5425153606A}" destId="{A9AA0D4E-ECA4-47AF-A05C-DEFDA80A116A}" srcOrd="0" destOrd="0" parTransId="{B65774A6-46D6-428A-8402-59B6EC9912CB}" sibTransId="{679F6D1F-9CDC-45AE-861F-E4BB82CF6DB0}"/>
    <dgm:cxn modelId="{DD0073E2-4200-4873-9705-D0B461B75E37}" srcId="{FB62BFE8-9EB1-47EF-83B2-4D36E6A5BBA7}" destId="{EC93861B-B614-46DB-BDC7-6FF960A37224}" srcOrd="0" destOrd="0" parTransId="{A9B75BCF-5AED-4965-A7A3-2C22FCA5E03F}" sibTransId="{F0BAD0B5-517C-4EF9-BB2E-9F5058CE838F}"/>
    <dgm:cxn modelId="{EA536BFB-74C2-417D-A5B0-548156B3DBB9}" srcId="{FB62BFE8-9EB1-47EF-83B2-4D36E6A5BBA7}" destId="{A3EA7CD2-3D83-463B-ACFB-A3A9B35A1D67}" srcOrd="1" destOrd="0" parTransId="{6E546398-3A4C-4EE3-A313-2AAE82156D12}" sibTransId="{662B4329-D083-47E6-BB96-EB2473B7EA56}"/>
    <dgm:cxn modelId="{D5D88D6D-42F6-48EE-B00D-437504C63837}" type="presParOf" srcId="{DF38264B-7DD4-48F1-B056-3A03DF1A466D}" destId="{C3F08E9A-3C1A-42B5-8924-7C31557276A8}" srcOrd="0" destOrd="0" presId="urn:microsoft.com/office/officeart/2005/8/layout/hList1"/>
    <dgm:cxn modelId="{C55381FE-FF17-4737-BC70-964FEF24EFFB}" type="presParOf" srcId="{C3F08E9A-3C1A-42B5-8924-7C31557276A8}" destId="{476CDEF6-9F79-43E3-9749-56C5996914B8}" srcOrd="0" destOrd="0" presId="urn:microsoft.com/office/officeart/2005/8/layout/hList1"/>
    <dgm:cxn modelId="{1397E608-8FE9-48E3-8EA3-49F8D19E654C}" type="presParOf" srcId="{C3F08E9A-3C1A-42B5-8924-7C31557276A8}" destId="{F8128B96-E3C0-4D50-8FF3-9CC69B6C9B2C}" srcOrd="1" destOrd="0" presId="urn:microsoft.com/office/officeart/2005/8/layout/hList1"/>
    <dgm:cxn modelId="{20D55362-18D3-484D-822A-E86007358FCA}" type="presParOf" srcId="{DF38264B-7DD4-48F1-B056-3A03DF1A466D}" destId="{DAF220C1-60D5-4B9E-8E34-646C5AB81E5A}" srcOrd="1" destOrd="0" presId="urn:microsoft.com/office/officeart/2005/8/layout/hList1"/>
    <dgm:cxn modelId="{79A87C28-1810-4F36-97CA-12DA8FB13C07}" type="presParOf" srcId="{DF38264B-7DD4-48F1-B056-3A03DF1A466D}" destId="{8DAE5CF6-51D2-4F51-8222-7E711FB2F4F8}" srcOrd="2" destOrd="0" presId="urn:microsoft.com/office/officeart/2005/8/layout/hList1"/>
    <dgm:cxn modelId="{6195F9A1-AA03-446D-A3F2-360EBB1C4E73}" type="presParOf" srcId="{8DAE5CF6-51D2-4F51-8222-7E711FB2F4F8}" destId="{3604EA49-432D-4482-9FF1-42C587099B81}" srcOrd="0" destOrd="0" presId="urn:microsoft.com/office/officeart/2005/8/layout/hList1"/>
    <dgm:cxn modelId="{70F005B5-6D71-493A-8B44-6F98B3F40E2F}" type="presParOf" srcId="{8DAE5CF6-51D2-4F51-8222-7E711FB2F4F8}" destId="{C609B44D-DDD3-493F-9034-9925A8211FA3}" srcOrd="1" destOrd="0" presId="urn:microsoft.com/office/officeart/2005/8/layout/hList1"/>
    <dgm:cxn modelId="{D8ECF431-0C26-4A35-9E32-82CDD35FCDA0}" type="presParOf" srcId="{DF38264B-7DD4-48F1-B056-3A03DF1A466D}" destId="{E9A39844-BFA3-4B61-8DF9-648DFB034F11}" srcOrd="3" destOrd="0" presId="urn:microsoft.com/office/officeart/2005/8/layout/hList1"/>
    <dgm:cxn modelId="{54870E42-A800-4092-8790-2528C9D870A4}" type="presParOf" srcId="{DF38264B-7DD4-48F1-B056-3A03DF1A466D}" destId="{01DA079A-868F-46D3-97A6-087D1F1E5B48}" srcOrd="4" destOrd="0" presId="urn:microsoft.com/office/officeart/2005/8/layout/hList1"/>
    <dgm:cxn modelId="{A863EF4C-63D9-41BD-8F07-9B721A0628E4}" type="presParOf" srcId="{01DA079A-868F-46D3-97A6-087D1F1E5B48}" destId="{945D228E-9F36-4170-B076-AD3A1105480E}" srcOrd="0" destOrd="0" presId="urn:microsoft.com/office/officeart/2005/8/layout/hList1"/>
    <dgm:cxn modelId="{1B98FB73-844C-4985-A869-CFCA022EBB96}" type="presParOf" srcId="{01DA079A-868F-46D3-97A6-087D1F1E5B48}" destId="{7DB00581-B4AB-48F6-B348-38206B59E89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6CDEF6-9F79-43E3-9749-56C5996914B8}">
      <dsp:nvSpPr>
        <dsp:cNvPr id="0" name=""/>
        <dsp:cNvSpPr/>
      </dsp:nvSpPr>
      <dsp:spPr>
        <a:xfrm>
          <a:off x="3286" y="233071"/>
          <a:ext cx="3203971" cy="12077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Audio Formats Used in Speech LLM Pipelines</a:t>
          </a:r>
        </a:p>
      </dsp:txBody>
      <dsp:txXfrm>
        <a:off x="3286" y="233071"/>
        <a:ext cx="3203971" cy="1207790"/>
      </dsp:txXfrm>
    </dsp:sp>
    <dsp:sp modelId="{F8128B96-E3C0-4D50-8FF3-9CC69B6C9B2C}">
      <dsp:nvSpPr>
        <dsp:cNvPr id="0" name=""/>
        <dsp:cNvSpPr/>
      </dsp:nvSpPr>
      <dsp:spPr>
        <a:xfrm>
          <a:off x="3286" y="1440861"/>
          <a:ext cx="3203971" cy="26774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WAV (.wav), FLAC (.flac), MP3 (.mp3), M4A (.m4a), OGG (.ogg)</a:t>
          </a:r>
        </a:p>
      </dsp:txBody>
      <dsp:txXfrm>
        <a:off x="3286" y="1440861"/>
        <a:ext cx="3203971" cy="2677404"/>
      </dsp:txXfrm>
    </dsp:sp>
    <dsp:sp modelId="{3604EA49-432D-4482-9FF1-42C587099B81}">
      <dsp:nvSpPr>
        <dsp:cNvPr id="0" name=""/>
        <dsp:cNvSpPr/>
      </dsp:nvSpPr>
      <dsp:spPr>
        <a:xfrm>
          <a:off x="3655814" y="233071"/>
          <a:ext cx="3203971" cy="1207790"/>
        </a:xfrm>
        <a:prstGeom prst="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Standard Sampling Rates Used in Speech Models</a:t>
          </a:r>
        </a:p>
      </dsp:txBody>
      <dsp:txXfrm>
        <a:off x="3655814" y="233071"/>
        <a:ext cx="3203971" cy="1207790"/>
      </dsp:txXfrm>
    </dsp:sp>
    <dsp:sp modelId="{C609B44D-DDD3-493F-9034-9925A8211FA3}">
      <dsp:nvSpPr>
        <dsp:cNvPr id="0" name=""/>
        <dsp:cNvSpPr/>
      </dsp:nvSpPr>
      <dsp:spPr>
        <a:xfrm>
          <a:off x="3655814" y="1440861"/>
          <a:ext cx="3203971" cy="2677404"/>
        </a:xfrm>
        <a:prstGeom prst="rect">
          <a:avLst/>
        </a:prstGeom>
        <a:solidFill>
          <a:schemeClr val="accent2">
            <a:tint val="40000"/>
            <a:alpha val="90000"/>
            <a:hueOff val="3367362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62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8 kHz(telephony speech), 16 kHz(Whisper, HuBERT, Wav2Vec2), 44.1 kHz(music recordings)</a:t>
          </a:r>
        </a:p>
      </dsp:txBody>
      <dsp:txXfrm>
        <a:off x="3655814" y="1440861"/>
        <a:ext cx="3203971" cy="2677404"/>
      </dsp:txXfrm>
    </dsp:sp>
    <dsp:sp modelId="{945D228E-9F36-4170-B076-AD3A1105480E}">
      <dsp:nvSpPr>
        <dsp:cNvPr id="0" name=""/>
        <dsp:cNvSpPr/>
      </dsp:nvSpPr>
      <dsp:spPr>
        <a:xfrm>
          <a:off x="7308342" y="233071"/>
          <a:ext cx="3203971" cy="1207790"/>
        </a:xfrm>
        <a:prstGeom prst="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Standard Speech Datasets Used in ASR and Speech-LLMs </a:t>
          </a:r>
        </a:p>
      </dsp:txBody>
      <dsp:txXfrm>
        <a:off x="7308342" y="233071"/>
        <a:ext cx="3203971" cy="1207790"/>
      </dsp:txXfrm>
    </dsp:sp>
    <dsp:sp modelId="{7DB00581-B4AB-48F6-B348-38206B59E896}">
      <dsp:nvSpPr>
        <dsp:cNvPr id="0" name=""/>
        <dsp:cNvSpPr/>
      </dsp:nvSpPr>
      <dsp:spPr>
        <a:xfrm>
          <a:off x="7308342" y="1440861"/>
          <a:ext cx="3203971" cy="2677404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LibriSpeech(1000 hours of English speech)</a:t>
          </a:r>
        </a:p>
      </dsp:txBody>
      <dsp:txXfrm>
        <a:off x="7308342" y="1440861"/>
        <a:ext cx="3203971" cy="26774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31397-A8ED-CC4C-B28D-513FB2A7538F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731B0-EC65-BE4B-AD0F-CDA5381B5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46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44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B6D2D-2073-3462-38A8-4D4B95F2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B60CA-09B5-A458-35A2-669BD97AB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576EC-52BB-D5A1-2B9D-92F3AC6A5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17C9D-E9B0-75E3-E9C8-9B4D4C616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74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09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8DE29-892E-DB81-920B-D29BE04A5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6625A-D0F8-1AF9-8F59-4FCCDFE71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6EB9F-3F27-5090-36D2-FEF4316F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00C6-9CDB-604F-B76E-9CB89B545A1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479DE-74FB-9D36-1492-6AC94F36C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D949A-02B4-B289-1AD7-ADD3B40B5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6C22-C104-AB4A-912C-47A92747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7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B6D8-697E-C502-2483-CF2656B3E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ECE1E-A80F-702D-AC9D-997B0AB37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9F4C8-6CC4-614F-5995-3F5D3A2C5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00C6-9CDB-604F-B76E-9CB89B545A1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5BDD3-45B0-5F2B-E109-62ABB29EB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981E2-59DF-B070-5295-F38A6B80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6C22-C104-AB4A-912C-47A92747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09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69F4-418D-4CFE-5C99-DD21C756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6350A-F8D3-9F6F-44EF-D38E2E86F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A7DA2-CC4E-4DD5-E5F7-C3ECD1AD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00C6-9CDB-604F-B76E-9CB89B545A1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6EE27-4648-C21E-2F09-16E1C0FA3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E586F-8FFD-589C-F3CF-2088F3EB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6C22-C104-AB4A-912C-47A92747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45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3EAC-2529-356D-7826-4FFF8DACF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4BD4F-FFF7-A32A-C1F2-A62C23DAC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E70B0-F1CA-6EA8-C10E-982586F6D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D7D75-28BA-361B-C972-05086CA3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00C6-9CDB-604F-B76E-9CB89B545A1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24702-3484-1793-D57A-2DD86F243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5D412-A501-7099-83FF-0B195FA4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6C22-C104-AB4A-912C-47A92747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75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E9A9-B662-E39D-4695-B31BE2F6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F9B8C-0E2F-6257-98FE-0ABE43DA6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0DA39-06CE-D19F-A5AB-B7215D029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FDB29-A5F2-F012-2680-D9888124D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1081D-CAFF-2062-162F-A4F79B637E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D83EEB-2EE3-05BD-19F0-4B72376E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00C6-9CDB-604F-B76E-9CB89B545A14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E6C7DD-5C5C-ED17-8182-D584936E2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6D6577-D576-180F-48A9-E89B0AF9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6C22-C104-AB4A-912C-47A92747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5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619C-B9A8-0F6B-EE16-13ADFDE8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74514-F49A-2477-90EB-8754C9EF4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00C6-9CDB-604F-B76E-9CB89B545A14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D2D08-1B57-E6C5-95C9-9A6495805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96C1B-F19D-C896-999D-124E4C817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6C22-C104-AB4A-912C-47A92747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5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4CEC3-F45A-597F-85FD-D0604F41F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00C6-9CDB-604F-B76E-9CB89B545A14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E865BF-9BBC-93A9-9A7E-72FF02DB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417C4-98D6-687E-B5F8-DE0018F85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6C22-C104-AB4A-912C-47A92747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9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333BB-50FF-4C33-B4E2-DA958F239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6D641-F689-80E5-E038-6BB0F9451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CBD43-8B36-F485-6DA4-70200FF52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30C01-EDA8-EEF1-E90C-592C78123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00C6-9CDB-604F-B76E-9CB89B545A1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8C056-3476-03D7-C937-9CB0F62DF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261C9-0EAB-7D60-DCA5-C9B015CE1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6C22-C104-AB4A-912C-47A92747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3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74DC-CEBF-C4D4-7CF9-B27F652C7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53B4B-E671-3464-A9DF-220A9337D5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5CFDB-0476-0C3E-27AF-F106D2966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77733-F709-DF08-C8E5-5BF0B9A12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00C6-9CDB-604F-B76E-9CB89B545A1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2C0DA-353E-8413-23FC-47CC2231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F7D00-FB45-968B-7DC2-69DEBA73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6C22-C104-AB4A-912C-47A92747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0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E0FE-68B7-ADF4-D513-7B04D0B3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5C218-6128-F1D4-3F1C-7C99F0269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8785B-B7F6-6383-0413-51E19F295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00C6-9CDB-604F-B76E-9CB89B545A1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C6623-96BE-4E85-3DEC-6DCBFA055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5C91-1C6B-5581-DD93-8125AA45A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6C22-C104-AB4A-912C-47A92747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20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1572CB-1611-FCA2-5E12-5D4A8A5511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03B01-AFDB-BE39-1696-6B7E4D6C4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A2EF7-B1C7-1521-0CAB-7A7167750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00C6-9CDB-604F-B76E-9CB89B545A1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613D5-7481-87B2-8AB0-0DD8647A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8E2C6-D22E-32A6-8742-7CF66A7E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6C22-C104-AB4A-912C-47A92747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57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31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F549A3-5F64-B590-F206-0D61987CA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3CEB6-D8B3-7AE2-EB48-ABF8D8E71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FC025-694B-39F0-532A-61ECD2CF3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4B00C6-9CDB-604F-B76E-9CB89B545A1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322AC-4B9F-D53B-0133-67133C641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756BD-998E-1BBB-3FF0-A37BBB7F3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66C22-C104-AB4A-912C-47A92747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2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 </a:t>
            </a:r>
            <a:endParaRPr lang="en-IN" sz="4400" dirty="0"/>
          </a:p>
        </p:txBody>
      </p:sp>
      <p:pic>
        <p:nvPicPr>
          <p:cNvPr id="7" name="Picture 6" descr="A picture containing drawing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058" y="5133727"/>
            <a:ext cx="4590899" cy="1510975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6917203" y="5118727"/>
            <a:ext cx="0" cy="147869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Content Placehold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781" y="162625"/>
            <a:ext cx="1672256" cy="12525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26" y="-183299"/>
            <a:ext cx="3429000" cy="171595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5994" y="2078456"/>
            <a:ext cx="1170256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Bootcamp on Gen AI and LLMs: Concepts and Applications</a:t>
            </a:r>
          </a:p>
          <a:p>
            <a:pPr algn="ctr"/>
            <a:r>
              <a:rPr lang="en-US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400" b="1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April to 4</a:t>
            </a:r>
            <a:r>
              <a:rPr lang="en-US" sz="3400" b="1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April 2026</a:t>
            </a:r>
            <a:endParaRPr lang="en-IN" sz="3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86613" y="5442161"/>
            <a:ext cx="4412127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Susmitha Vekkot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ASE, Bengaluru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957" y="254480"/>
            <a:ext cx="1866323" cy="1345269"/>
          </a:xfrm>
          <a:prstGeom prst="rect">
            <a:avLst/>
          </a:prstGeom>
        </p:spPr>
      </p:pic>
      <p:sp>
        <p:nvSpPr>
          <p:cNvPr id="14" name="AutoShape 2" descr="Uploaded image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715" y="125607"/>
            <a:ext cx="1373991" cy="13266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84D502-01F5-FBE6-2C7D-D4167E6B531F}"/>
              </a:ext>
            </a:extLst>
          </p:cNvPr>
          <p:cNvSpPr txBox="1"/>
          <p:nvPr/>
        </p:nvSpPr>
        <p:spPr>
          <a:xfrm>
            <a:off x="324484" y="3525757"/>
            <a:ext cx="114840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Next-Generation Speech AI: From Acoustic Foundations to Speech LLMs</a:t>
            </a:r>
          </a:p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Hands on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450A0-4DB4-8B15-EE15-DABC3003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Speech LLM Pipeline Overview</a:t>
            </a:r>
            <a:endParaRPr lang="en-US"/>
          </a:p>
        </p:txBody>
      </p:sp>
      <p:pic>
        <p:nvPicPr>
          <p:cNvPr id="4" name="Content Placeholder 3" descr="A diagram of a speech model&#10;&#10;AI-generated content may be incorrect.">
            <a:extLst>
              <a:ext uri="{FF2B5EF4-FFF2-40B4-BE49-F238E27FC236}">
                <a16:creationId xmlns:a16="http://schemas.microsoft.com/office/drawing/2014/main" id="{B49E0DB5-A16A-8620-E3F9-89B0D90FE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16422"/>
            <a:ext cx="10515600" cy="376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89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A98B3F-6055-701F-841C-724FC3E141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390" r="9085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F6B38B-5056-BAF1-E763-ED1C099BDC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0392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2000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71500"/>
            <a:ext cx="3032048" cy="525614"/>
          </a:xfrm>
          <a:prstGeom prst="rect">
            <a:avLst/>
          </a:prstGeom>
          <a:noFill/>
          <a:ln/>
        </p:spPr>
        <p:txBody>
          <a:bodyPr wrap="none" lIns="0" tIns="0" rIns="0" bIns="170011" rtlCol="0" anchor="t">
            <a:spAutoFit/>
          </a:bodyPr>
          <a:lstStyle/>
          <a:p>
            <a:pPr>
              <a:lnSpc>
                <a:spcPts val="2933"/>
              </a:lnSpc>
            </a:pPr>
            <a:r>
              <a:rPr lang="en-US" sz="2136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Dual Nature of Speech</a:t>
            </a:r>
            <a:endParaRPr lang="en-US" sz="21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1" y="1678782"/>
            <a:ext cx="266700" cy="266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71575" y="1674019"/>
            <a:ext cx="2316916" cy="25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</a:t>
            </a:r>
            <a:r>
              <a:rPr lang="en-US" sz="1591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Spoken (Semantic)</a:t>
            </a:r>
            <a:endParaRPr lang="en-US" sz="1591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62001" y="2283619"/>
            <a:ext cx="116681" cy="13335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21556" y="2235994"/>
            <a:ext cx="884858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18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Identity</a:t>
            </a:r>
            <a:endParaRPr lang="en-US" sz="1180" dirty="0"/>
          </a:p>
        </p:txBody>
      </p:sp>
      <p:sp>
        <p:nvSpPr>
          <p:cNvPr id="8" name="Text 3"/>
          <p:cNvSpPr/>
          <p:nvPr/>
        </p:nvSpPr>
        <p:spPr>
          <a:xfrm>
            <a:off x="1021556" y="2586484"/>
            <a:ext cx="3451266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Recognition of specific words (e.g., "apple") and their literal</a:t>
            </a:r>
            <a:endParaRPr lang="en-US" sz="1112" dirty="0"/>
          </a:p>
        </p:txBody>
      </p:sp>
      <p:sp>
        <p:nvSpPr>
          <p:cNvPr id="9" name="Text 4"/>
          <p:cNvSpPr/>
          <p:nvPr/>
        </p:nvSpPr>
        <p:spPr>
          <a:xfrm>
            <a:off x="1021557" y="2830301"/>
            <a:ext cx="538609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meaning.</a:t>
            </a:r>
            <a:endParaRPr lang="en-US" sz="1112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62001" y="3331295"/>
            <a:ext cx="116681" cy="1333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1556" y="3283670"/>
            <a:ext cx="1227900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18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Phoneme Structure</a:t>
            </a:r>
            <a:endParaRPr lang="en-US" sz="1180" dirty="0"/>
          </a:p>
        </p:txBody>
      </p:sp>
      <p:sp>
        <p:nvSpPr>
          <p:cNvPr id="12" name="Text 6"/>
          <p:cNvSpPr/>
          <p:nvPr/>
        </p:nvSpPr>
        <p:spPr>
          <a:xfrm>
            <a:off x="1021556" y="3634160"/>
            <a:ext cx="3327834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basic sound units that form words (e.g., /a/ /p/ /l/) in</a:t>
            </a:r>
            <a:endParaRPr lang="en-US" sz="1112" dirty="0"/>
          </a:p>
        </p:txBody>
      </p:sp>
      <p:sp>
        <p:nvSpPr>
          <p:cNvPr id="13" name="Text 7"/>
          <p:cNvSpPr/>
          <p:nvPr/>
        </p:nvSpPr>
        <p:spPr>
          <a:xfrm>
            <a:off x="1021556" y="3877977"/>
            <a:ext cx="1112484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linguistic structure.</a:t>
            </a:r>
            <a:endParaRPr lang="en-US" sz="1112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62001" y="4378970"/>
            <a:ext cx="116681" cy="13335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21556" y="4331346"/>
            <a:ext cx="1175002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18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 Meaning</a:t>
            </a:r>
            <a:endParaRPr lang="en-US" sz="1180" dirty="0"/>
          </a:p>
        </p:txBody>
      </p:sp>
      <p:sp>
        <p:nvSpPr>
          <p:cNvPr id="16" name="Text 9"/>
          <p:cNvSpPr/>
          <p:nvPr/>
        </p:nvSpPr>
        <p:spPr>
          <a:xfrm>
            <a:off x="1021556" y="4681835"/>
            <a:ext cx="3289362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whether speech is a statement, question,</a:t>
            </a:r>
            <a:endParaRPr lang="en-US" sz="1112" dirty="0"/>
          </a:p>
        </p:txBody>
      </p:sp>
      <p:sp>
        <p:nvSpPr>
          <p:cNvPr id="17" name="Text 10"/>
          <p:cNvSpPr/>
          <p:nvPr/>
        </p:nvSpPr>
        <p:spPr>
          <a:xfrm>
            <a:off x="1021556" y="4925653"/>
            <a:ext cx="1476366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command, or other form.</a:t>
            </a:r>
            <a:endParaRPr lang="en-US" sz="1112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1" y="1678782"/>
            <a:ext cx="333375" cy="2667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143752" y="1674019"/>
            <a:ext cx="2341795" cy="25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</a:t>
            </a:r>
            <a:r>
              <a:rPr lang="en-US" sz="1591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is Spoken (Acoustic)</a:t>
            </a:r>
            <a:endParaRPr lang="en-US" sz="1591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6667501" y="2283619"/>
            <a:ext cx="116681" cy="133351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27057" y="2235994"/>
            <a:ext cx="806311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18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&amp; Tone</a:t>
            </a:r>
            <a:endParaRPr lang="en-US" sz="1180" dirty="0"/>
          </a:p>
        </p:txBody>
      </p:sp>
      <p:sp>
        <p:nvSpPr>
          <p:cNvPr id="22" name="Text 13"/>
          <p:cNvSpPr/>
          <p:nvPr/>
        </p:nvSpPr>
        <p:spPr>
          <a:xfrm>
            <a:off x="6927056" y="2586484"/>
            <a:ext cx="3650038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frequency and quality of the voice, conveying emotion and</a:t>
            </a:r>
            <a:endParaRPr lang="en-US" sz="1112" dirty="0"/>
          </a:p>
        </p:txBody>
      </p:sp>
      <p:sp>
        <p:nvSpPr>
          <p:cNvPr id="23" name="Text 14"/>
          <p:cNvSpPr/>
          <p:nvPr/>
        </p:nvSpPr>
        <p:spPr>
          <a:xfrm>
            <a:off x="6927057" y="2830301"/>
            <a:ext cx="583493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emphasis.</a:t>
            </a:r>
            <a:endParaRPr lang="en-US" sz="1112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6667501" y="3331295"/>
            <a:ext cx="116681" cy="133351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27056" y="3283670"/>
            <a:ext cx="1203856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18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 &amp; Rhythm</a:t>
            </a:r>
            <a:endParaRPr lang="en-US" sz="1180" dirty="0"/>
          </a:p>
        </p:txBody>
      </p:sp>
      <p:sp>
        <p:nvSpPr>
          <p:cNvPr id="26" name="Text 16"/>
          <p:cNvSpPr/>
          <p:nvPr/>
        </p:nvSpPr>
        <p:spPr>
          <a:xfrm>
            <a:off x="6927057" y="3634160"/>
            <a:ext cx="3597139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Feelings expressed through vocal delivery and the timing/flow</a:t>
            </a:r>
            <a:endParaRPr lang="en-US" sz="1112" dirty="0"/>
          </a:p>
        </p:txBody>
      </p:sp>
      <p:sp>
        <p:nvSpPr>
          <p:cNvPr id="27" name="Text 17"/>
          <p:cNvSpPr/>
          <p:nvPr/>
        </p:nvSpPr>
        <p:spPr>
          <a:xfrm>
            <a:off x="6927056" y="3877977"/>
            <a:ext cx="1118896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speech patterns.</a:t>
            </a:r>
            <a:endParaRPr lang="en-US" sz="1112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6667501" y="4378970"/>
            <a:ext cx="116681" cy="133351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927056" y="4331346"/>
            <a:ext cx="1524456" cy="243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18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Identity &amp; Style</a:t>
            </a:r>
            <a:endParaRPr lang="en-US" sz="1180" dirty="0"/>
          </a:p>
        </p:txBody>
      </p:sp>
      <p:sp>
        <p:nvSpPr>
          <p:cNvPr id="30" name="Text 19"/>
          <p:cNvSpPr/>
          <p:nvPr/>
        </p:nvSpPr>
        <p:spPr>
          <a:xfrm>
            <a:off x="6927056" y="4681835"/>
            <a:ext cx="3212418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vocal characteristics and individual variations in</a:t>
            </a:r>
            <a:endParaRPr lang="en-US" sz="1112" dirty="0"/>
          </a:p>
        </p:txBody>
      </p:sp>
      <p:sp>
        <p:nvSpPr>
          <p:cNvPr id="31" name="Text 20"/>
          <p:cNvSpPr/>
          <p:nvPr/>
        </p:nvSpPr>
        <p:spPr>
          <a:xfrm>
            <a:off x="6927057" y="4925653"/>
            <a:ext cx="854401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pronunciation.</a:t>
            </a:r>
            <a:endParaRPr lang="en-US" sz="111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7DA3E638-7E88-6732-2A84-BEA446878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" y="807041"/>
            <a:ext cx="12080009" cy="524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96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71500"/>
            <a:ext cx="4908588" cy="525614"/>
          </a:xfrm>
          <a:prstGeom prst="rect">
            <a:avLst/>
          </a:prstGeom>
          <a:noFill/>
          <a:ln/>
        </p:spPr>
        <p:txBody>
          <a:bodyPr wrap="none" lIns="0" tIns="0" rIns="0" bIns="170011" rtlCol="0" anchor="t">
            <a:spAutoFit/>
          </a:bodyPr>
          <a:lstStyle/>
          <a:p>
            <a:pPr>
              <a:lnSpc>
                <a:spcPts val="2933"/>
              </a:lnSpc>
            </a:pPr>
            <a:r>
              <a:rPr lang="en-US" sz="2136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Applications of Speech Analysis</a:t>
            </a:r>
            <a:endParaRPr lang="en-US" sz="21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1" y="1788319"/>
            <a:ext cx="333375" cy="266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71625" y="1766888"/>
            <a:ext cx="1368836" cy="267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Speech Recognition</a:t>
            </a:r>
            <a:endParaRPr lang="en-US" sz="1316" dirty="0"/>
          </a:p>
        </p:txBody>
      </p:sp>
      <p:sp>
        <p:nvSpPr>
          <p:cNvPr id="6" name="Shape 2"/>
          <p:cNvSpPr/>
          <p:nvPr/>
        </p:nvSpPr>
        <p:spPr>
          <a:xfrm>
            <a:off x="3602831" y="1795835"/>
            <a:ext cx="690563" cy="209551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7" name="Text 3"/>
          <p:cNvSpPr/>
          <p:nvPr/>
        </p:nvSpPr>
        <p:spPr>
          <a:xfrm>
            <a:off x="3602831" y="1801523"/>
            <a:ext cx="564813" cy="198175"/>
          </a:xfrm>
          <a:prstGeom prst="rect">
            <a:avLst/>
          </a:prstGeom>
          <a:noFill/>
          <a:ln/>
        </p:spPr>
        <p:txBody>
          <a:bodyPr wrap="none" lIns="90763" tIns="22691" rIns="90763" bIns="22691" rtlCol="0" anchor="ctr">
            <a:spAutoFit/>
          </a:bodyPr>
          <a:lstStyle/>
          <a:p>
            <a:pPr>
              <a:lnSpc>
                <a:spcPts val="1333"/>
              </a:lnSpc>
            </a:pPr>
            <a:r>
              <a:rPr lang="en-US" sz="779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</a:t>
            </a:r>
            <a:endParaRPr lang="en-US" sz="779" dirty="0"/>
          </a:p>
        </p:txBody>
      </p:sp>
      <p:sp>
        <p:nvSpPr>
          <p:cNvPr id="8" name="Text 4"/>
          <p:cNvSpPr/>
          <p:nvPr/>
        </p:nvSpPr>
        <p:spPr>
          <a:xfrm>
            <a:off x="1571625" y="2124075"/>
            <a:ext cx="3215624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audio to text. Requires deep understanding of</a:t>
            </a:r>
            <a:endParaRPr lang="en-US" sz="1112" dirty="0"/>
          </a:p>
        </p:txBody>
      </p:sp>
      <p:sp>
        <p:nvSpPr>
          <p:cNvPr id="9" name="Text 5"/>
          <p:cNvSpPr/>
          <p:nvPr/>
        </p:nvSpPr>
        <p:spPr>
          <a:xfrm>
            <a:off x="1571626" y="2352675"/>
            <a:ext cx="3382336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information, phonemes, and language models to</a:t>
            </a:r>
            <a:endParaRPr lang="en-US" sz="1112" dirty="0"/>
          </a:p>
        </p:txBody>
      </p:sp>
      <p:sp>
        <p:nvSpPr>
          <p:cNvPr id="10" name="Text 6"/>
          <p:cNvSpPr/>
          <p:nvPr/>
        </p:nvSpPr>
        <p:spPr>
          <a:xfrm>
            <a:off x="1571625" y="2581275"/>
            <a:ext cx="2093522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accurately transcribe spoken words.</a:t>
            </a:r>
            <a:endParaRPr lang="en-US" sz="1112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1" y="1788319"/>
            <a:ext cx="333375" cy="2667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5626" y="1766888"/>
            <a:ext cx="1311256" cy="267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 Detection</a:t>
            </a:r>
            <a:endParaRPr lang="en-US" sz="1316" dirty="0"/>
          </a:p>
        </p:txBody>
      </p:sp>
      <p:sp>
        <p:nvSpPr>
          <p:cNvPr id="13" name="Shape 8"/>
          <p:cNvSpPr/>
          <p:nvPr/>
        </p:nvSpPr>
        <p:spPr>
          <a:xfrm>
            <a:off x="8789194" y="1795835"/>
            <a:ext cx="661988" cy="209551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14" name="Text 9"/>
          <p:cNvSpPr/>
          <p:nvPr/>
        </p:nvSpPr>
        <p:spPr>
          <a:xfrm>
            <a:off x="8789193" y="1801523"/>
            <a:ext cx="534357" cy="198175"/>
          </a:xfrm>
          <a:prstGeom prst="rect">
            <a:avLst/>
          </a:prstGeom>
          <a:noFill/>
          <a:ln/>
        </p:spPr>
        <p:txBody>
          <a:bodyPr wrap="none" lIns="90763" tIns="22691" rIns="90763" bIns="22691" rtlCol="0" anchor="ctr">
            <a:spAutoFit/>
          </a:bodyPr>
          <a:lstStyle/>
          <a:p>
            <a:pPr>
              <a:lnSpc>
                <a:spcPts val="1333"/>
              </a:lnSpc>
            </a:pPr>
            <a:r>
              <a:rPr lang="en-US" sz="779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Acoustic</a:t>
            </a:r>
            <a:endParaRPr lang="en-US" sz="779" dirty="0"/>
          </a:p>
        </p:txBody>
      </p:sp>
      <p:sp>
        <p:nvSpPr>
          <p:cNvPr id="15" name="Text 10"/>
          <p:cNvSpPr/>
          <p:nvPr/>
        </p:nvSpPr>
        <p:spPr>
          <a:xfrm>
            <a:off x="6905626" y="2124075"/>
            <a:ext cx="3185167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speaker sentiment. Relies heavily on acoustic</a:t>
            </a:r>
            <a:endParaRPr lang="en-US" sz="1112" dirty="0"/>
          </a:p>
        </p:txBody>
      </p:sp>
      <p:sp>
        <p:nvSpPr>
          <p:cNvPr id="16" name="Text 11"/>
          <p:cNvSpPr/>
          <p:nvPr/>
        </p:nvSpPr>
        <p:spPr>
          <a:xfrm>
            <a:off x="6905625" y="2352675"/>
            <a:ext cx="3435236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like pitch variations, speech rate, and vocal energy</a:t>
            </a:r>
            <a:endParaRPr lang="en-US" sz="1112" dirty="0"/>
          </a:p>
        </p:txBody>
      </p:sp>
      <p:sp>
        <p:nvSpPr>
          <p:cNvPr id="17" name="Text 12"/>
          <p:cNvSpPr/>
          <p:nvPr/>
        </p:nvSpPr>
        <p:spPr>
          <a:xfrm>
            <a:off x="6905626" y="2581275"/>
            <a:ext cx="1744067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determine emotional state.</a:t>
            </a:r>
            <a:endParaRPr lang="en-US" sz="1112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1" y="3331370"/>
            <a:ext cx="333375" cy="2667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1626" y="3309937"/>
            <a:ext cx="1401281" cy="267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Verification</a:t>
            </a:r>
            <a:endParaRPr lang="en-US" sz="1316" dirty="0"/>
          </a:p>
        </p:txBody>
      </p:sp>
      <p:sp>
        <p:nvSpPr>
          <p:cNvPr id="20" name="Shape 14"/>
          <p:cNvSpPr/>
          <p:nvPr/>
        </p:nvSpPr>
        <p:spPr>
          <a:xfrm>
            <a:off x="3650457" y="3338885"/>
            <a:ext cx="661988" cy="209551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21" name="Text 15"/>
          <p:cNvSpPr/>
          <p:nvPr/>
        </p:nvSpPr>
        <p:spPr>
          <a:xfrm>
            <a:off x="3650456" y="3344573"/>
            <a:ext cx="534357" cy="198175"/>
          </a:xfrm>
          <a:prstGeom prst="rect">
            <a:avLst/>
          </a:prstGeom>
          <a:noFill/>
          <a:ln/>
        </p:spPr>
        <p:txBody>
          <a:bodyPr wrap="none" lIns="90763" tIns="22691" rIns="90763" bIns="22691" rtlCol="0" anchor="ctr">
            <a:spAutoFit/>
          </a:bodyPr>
          <a:lstStyle/>
          <a:p>
            <a:pPr>
              <a:lnSpc>
                <a:spcPts val="1333"/>
              </a:lnSpc>
            </a:pPr>
            <a:r>
              <a:rPr lang="en-US" sz="779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Acoustic</a:t>
            </a:r>
            <a:endParaRPr lang="en-US" sz="779" dirty="0"/>
          </a:p>
        </p:txBody>
      </p:sp>
      <p:sp>
        <p:nvSpPr>
          <p:cNvPr id="22" name="Text 16"/>
          <p:cNvSpPr/>
          <p:nvPr/>
        </p:nvSpPr>
        <p:spPr>
          <a:xfrm>
            <a:off x="1571626" y="3667125"/>
            <a:ext cx="2576026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Authenticates identity. Uses unique acoustic</a:t>
            </a:r>
            <a:endParaRPr lang="en-US" sz="1112" dirty="0"/>
          </a:p>
        </p:txBody>
      </p:sp>
      <p:sp>
        <p:nvSpPr>
          <p:cNvPr id="23" name="Text 17"/>
          <p:cNvSpPr/>
          <p:nvPr/>
        </p:nvSpPr>
        <p:spPr>
          <a:xfrm>
            <a:off x="1571626" y="3895725"/>
            <a:ext cx="3108223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characteristics, vocal tract models, and pronunciation</a:t>
            </a:r>
            <a:endParaRPr lang="en-US" sz="1112" dirty="0"/>
          </a:p>
        </p:txBody>
      </p:sp>
      <p:sp>
        <p:nvSpPr>
          <p:cNvPr id="24" name="Text 18"/>
          <p:cNvSpPr/>
          <p:nvPr/>
        </p:nvSpPr>
        <p:spPr>
          <a:xfrm>
            <a:off x="1571625" y="4124325"/>
            <a:ext cx="2236190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styles as a biometric security measure.</a:t>
            </a:r>
            <a:endParaRPr lang="en-US" sz="1112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1" y="3331370"/>
            <a:ext cx="333375" cy="2667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05626" y="3309937"/>
            <a:ext cx="1301447" cy="267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Learning</a:t>
            </a:r>
            <a:endParaRPr lang="en-US" sz="1316" dirty="0"/>
          </a:p>
        </p:txBody>
      </p:sp>
      <p:sp>
        <p:nvSpPr>
          <p:cNvPr id="27" name="Shape 20"/>
          <p:cNvSpPr/>
          <p:nvPr/>
        </p:nvSpPr>
        <p:spPr>
          <a:xfrm>
            <a:off x="8853489" y="3338885"/>
            <a:ext cx="416719" cy="20955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28" name="Text 21"/>
          <p:cNvSpPr/>
          <p:nvPr/>
        </p:nvSpPr>
        <p:spPr>
          <a:xfrm>
            <a:off x="8853488" y="3344573"/>
            <a:ext cx="382071" cy="198175"/>
          </a:xfrm>
          <a:prstGeom prst="rect">
            <a:avLst/>
          </a:prstGeom>
          <a:noFill/>
          <a:ln/>
        </p:spPr>
        <p:txBody>
          <a:bodyPr wrap="none" lIns="90763" tIns="22691" rIns="90763" bIns="22691" rtlCol="0" anchor="ctr">
            <a:spAutoFit/>
          </a:bodyPr>
          <a:lstStyle/>
          <a:p>
            <a:pPr>
              <a:lnSpc>
                <a:spcPts val="1333"/>
              </a:lnSpc>
            </a:pPr>
            <a:r>
              <a:rPr lang="en-US" sz="779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</a:t>
            </a:r>
            <a:endParaRPr lang="en-US" sz="779" dirty="0"/>
          </a:p>
        </p:txBody>
      </p:sp>
      <p:sp>
        <p:nvSpPr>
          <p:cNvPr id="29" name="Text 22"/>
          <p:cNvSpPr/>
          <p:nvPr/>
        </p:nvSpPr>
        <p:spPr>
          <a:xfrm>
            <a:off x="6905625" y="3667125"/>
            <a:ext cx="3337452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Aids in language acquisition. Benefits from understanding</a:t>
            </a:r>
            <a:endParaRPr lang="en-US" sz="1112" dirty="0"/>
          </a:p>
        </p:txBody>
      </p:sp>
      <p:sp>
        <p:nvSpPr>
          <p:cNvPr id="30" name="Text 23"/>
          <p:cNvSpPr/>
          <p:nvPr/>
        </p:nvSpPr>
        <p:spPr>
          <a:xfrm>
            <a:off x="6905626" y="3895725"/>
            <a:ext cx="2981585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correct pronunciation (acoustic feedback) and</a:t>
            </a:r>
            <a:endParaRPr lang="en-US" sz="1112" dirty="0"/>
          </a:p>
        </p:txBody>
      </p:sp>
      <p:sp>
        <p:nvSpPr>
          <p:cNvPr id="31" name="Text 24"/>
          <p:cNvSpPr/>
          <p:nvPr/>
        </p:nvSpPr>
        <p:spPr>
          <a:xfrm>
            <a:off x="6905626" y="4124325"/>
            <a:ext cx="3313408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vocabulary/grammar meaning (semantic understanding).</a:t>
            </a:r>
            <a:endParaRPr lang="en-US" sz="1112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751" y="4874419"/>
            <a:ext cx="333375" cy="2667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59639" y="4852988"/>
            <a:ext cx="1684628" cy="267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67"/>
              </a:lnSpc>
            </a:pPr>
            <a:r>
              <a:rPr lang="en-US" sz="1316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Technology</a:t>
            </a:r>
            <a:endParaRPr lang="en-US" sz="1316" dirty="0"/>
          </a:p>
        </p:txBody>
      </p:sp>
      <p:sp>
        <p:nvSpPr>
          <p:cNvPr id="34" name="Shape 26"/>
          <p:cNvSpPr/>
          <p:nvPr/>
        </p:nvSpPr>
        <p:spPr>
          <a:xfrm>
            <a:off x="7417594" y="4881935"/>
            <a:ext cx="416719" cy="20955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35" name="Text 27"/>
          <p:cNvSpPr/>
          <p:nvPr/>
        </p:nvSpPr>
        <p:spPr>
          <a:xfrm>
            <a:off x="7434917" y="4887623"/>
            <a:ext cx="382071" cy="198175"/>
          </a:xfrm>
          <a:prstGeom prst="rect">
            <a:avLst/>
          </a:prstGeom>
          <a:noFill/>
          <a:ln/>
        </p:spPr>
        <p:txBody>
          <a:bodyPr wrap="none" lIns="90763" tIns="22691" rIns="90763" bIns="22691" rtlCol="0" anchor="ctr">
            <a:spAutoFit/>
          </a:bodyPr>
          <a:lstStyle/>
          <a:p>
            <a:pPr algn="ctr">
              <a:lnSpc>
                <a:spcPts val="1333"/>
              </a:lnSpc>
            </a:pPr>
            <a:r>
              <a:rPr lang="en-US" sz="779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</a:t>
            </a:r>
            <a:endParaRPr lang="en-US" sz="779" dirty="0"/>
          </a:p>
        </p:txBody>
      </p:sp>
      <p:sp>
        <p:nvSpPr>
          <p:cNvPr id="36" name="Text 28"/>
          <p:cNvSpPr/>
          <p:nvPr/>
        </p:nvSpPr>
        <p:spPr>
          <a:xfrm>
            <a:off x="3612796" y="5210175"/>
            <a:ext cx="5490285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Text-to-speech systems must synthesize both accurate semantic content and natural-sounding</a:t>
            </a:r>
            <a:endParaRPr lang="en-US" sz="1112" dirty="0"/>
          </a:p>
        </p:txBody>
      </p:sp>
      <p:sp>
        <p:nvSpPr>
          <p:cNvPr id="37" name="Text 29"/>
          <p:cNvSpPr/>
          <p:nvPr/>
        </p:nvSpPr>
        <p:spPr>
          <a:xfrm>
            <a:off x="4282851" y="5438775"/>
            <a:ext cx="4150175" cy="2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112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acoustic delivery (prosody, intonation) for effective, human-like output.</a:t>
            </a:r>
            <a:endParaRPr lang="en-US" sz="111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1347" y="274320"/>
            <a:ext cx="11339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9376D"/>
                </a:solidFill>
              </a:defRPr>
            </a:pPr>
            <a:r>
              <a:rPr sz="5400"/>
              <a:t>Speech &amp; Audio AI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1051560"/>
            <a:ext cx="6400800" cy="0"/>
          </a:xfrm>
          <a:prstGeom prst="rect">
            <a:avLst/>
          </a:prstGeom>
          <a:ln w="38100">
            <a:solidFill>
              <a:srgbClr val="4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124416"/>
              </p:ext>
            </p:extLst>
          </p:nvPr>
        </p:nvGraphicFramePr>
        <p:xfrm>
          <a:off x="1115121" y="1369121"/>
          <a:ext cx="10382056" cy="4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9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2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1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428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428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164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solidFill>
                            <a:srgbClr val="282828"/>
                          </a:solidFill>
                        </a:rPr>
                        <a:t>SeamlessM4T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282828"/>
                          </a:solidFill>
                        </a:rPr>
                        <a:t>speech-to-speech translation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164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solidFill>
                            <a:srgbClr val="282828"/>
                          </a:solidFill>
                        </a:rPr>
                        <a:t>Whisper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282828"/>
                          </a:solidFill>
                        </a:rPr>
                        <a:t>speech-to-text transcription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164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solidFill>
                            <a:srgbClr val="282828"/>
                          </a:solidFill>
                        </a:rPr>
                        <a:t>HuBERT</a:t>
                      </a:r>
                      <a:endParaRPr lang="en-IN" sz="2000" b="1" err="1">
                        <a:solidFill>
                          <a:srgbClr val="282828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282828"/>
                          </a:solidFill>
                        </a:rPr>
                        <a:t>semantic speech token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164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solidFill>
                            <a:srgbClr val="282828"/>
                          </a:solidFill>
                        </a:rPr>
                        <a:t>EnCodec</a:t>
                      </a:r>
                      <a:endParaRPr lang="en-IN" sz="2000" b="1" err="1">
                        <a:solidFill>
                          <a:srgbClr val="282828"/>
                        </a:solidFill>
                      </a:endParaRP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282828"/>
                          </a:solidFill>
                        </a:rPr>
                        <a:t>acoustic speech token extraction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164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solidFill>
                            <a:srgbClr val="282828"/>
                          </a:solidFill>
                        </a:rPr>
                        <a:t>SpeechT5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282828"/>
                          </a:solidFill>
                        </a:rPr>
                        <a:t>speech + text multimodal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164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solidFill>
                            <a:srgbClr val="282828"/>
                          </a:solidFill>
                        </a:rPr>
                        <a:t>AudioLM</a:t>
                      </a:r>
                      <a:endParaRPr lang="en-IN" sz="2000" b="1" err="1">
                        <a:solidFill>
                          <a:srgbClr val="282828"/>
                        </a:solidFill>
                      </a:endParaRP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282828"/>
                          </a:solidFill>
                        </a:rPr>
                        <a:t>speech token language modeling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164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solidFill>
                            <a:srgbClr val="282828"/>
                          </a:solidFill>
                        </a:rPr>
                        <a:t>SpeechGPT</a:t>
                      </a:r>
                      <a:endParaRPr lang="en-IN" sz="2000" b="1" err="1">
                        <a:solidFill>
                          <a:srgbClr val="282828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282828"/>
                          </a:solidFill>
                        </a:rPr>
                        <a:t>speech conversation &amp;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164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solidFill>
                            <a:srgbClr val="282828"/>
                          </a:solidFill>
                        </a:rPr>
                        <a:t>Qwen-Audio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282828"/>
                          </a:solidFill>
                        </a:rPr>
                        <a:t>speech reasoning &amp; audio QA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9164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solidFill>
                            <a:srgbClr val="282828"/>
                          </a:solidFill>
                        </a:rPr>
                        <a:t>Wav2Vec2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282828"/>
                          </a:solidFill>
                        </a:rPr>
                        <a:t>phonetic speech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1975" y="0"/>
            <a:ext cx="5079988" cy="685800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Shape 1"/>
          <p:cNvSpPr/>
          <p:nvPr/>
        </p:nvSpPr>
        <p:spPr>
          <a:xfrm>
            <a:off x="6730975" y="1905000"/>
            <a:ext cx="762000" cy="762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2"/>
          <p:cNvSpPr/>
          <p:nvPr/>
        </p:nvSpPr>
        <p:spPr>
          <a:xfrm rot="-5400000">
            <a:off x="6042089" y="2650294"/>
            <a:ext cx="7219797" cy="15574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666"/>
              </a:lnSpc>
            </a:pPr>
            <a:r>
              <a:rPr lang="en-US" sz="9672" b="1" kern="0" spc="11" dirty="0">
                <a:solidFill>
                  <a:srgbClr val="FFFFFF">
                    <a:alpha val="7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ECOSYSTEM</a:t>
            </a:r>
            <a:endParaRPr lang="en-US" sz="9672" dirty="0"/>
          </a:p>
        </p:txBody>
      </p:sp>
      <p:sp>
        <p:nvSpPr>
          <p:cNvPr id="6" name="Text 3"/>
          <p:cNvSpPr/>
          <p:nvPr/>
        </p:nvSpPr>
        <p:spPr>
          <a:xfrm>
            <a:off x="1301726" y="476251"/>
            <a:ext cx="9874263" cy="135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333"/>
              </a:lnSpc>
            </a:pPr>
            <a:r>
              <a:rPr lang="en-US" sz="4683" b="1" kern="0" spc="-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SPEECH LLM
LANDSCAPE</a:t>
            </a:r>
            <a:endParaRPr lang="en-US" sz="4683" dirty="0"/>
          </a:p>
        </p:txBody>
      </p:sp>
      <p:sp>
        <p:nvSpPr>
          <p:cNvPr id="7" name="Text 4"/>
          <p:cNvSpPr/>
          <p:nvPr/>
        </p:nvSpPr>
        <p:spPr>
          <a:xfrm>
            <a:off x="1301725" y="1979265"/>
            <a:ext cx="1305870" cy="2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kern="0" spc="3" dirty="0">
                <a:solidFill>
                  <a:srgbClr val="BE12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PLAYERS</a:t>
            </a:r>
            <a:endParaRPr lang="en-US" sz="1591" dirty="0"/>
          </a:p>
        </p:txBody>
      </p:sp>
      <p:sp>
        <p:nvSpPr>
          <p:cNvPr id="8" name="Text 5"/>
          <p:cNvSpPr/>
          <p:nvPr/>
        </p:nvSpPr>
        <p:spPr>
          <a:xfrm>
            <a:off x="1577951" y="2476501"/>
            <a:ext cx="1407437" cy="242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 Realtime</a:t>
            </a:r>
            <a:endParaRPr lang="en-US" sz="1453" dirty="0"/>
          </a:p>
        </p:txBody>
      </p:sp>
      <p:sp>
        <p:nvSpPr>
          <p:cNvPr id="9" name="Text 6"/>
          <p:cNvSpPr/>
          <p:nvPr/>
        </p:nvSpPr>
        <p:spPr>
          <a:xfrm>
            <a:off x="1495193" y="3046234"/>
            <a:ext cx="2533651" cy="24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Gemini Live / Audio</a:t>
            </a:r>
            <a:endParaRPr lang="en-US" sz="1453" dirty="0"/>
          </a:p>
        </p:txBody>
      </p:sp>
      <p:sp>
        <p:nvSpPr>
          <p:cNvPr id="10" name="Text 7"/>
          <p:cNvSpPr/>
          <p:nvPr/>
        </p:nvSpPr>
        <p:spPr>
          <a:xfrm>
            <a:off x="1577952" y="3593307"/>
            <a:ext cx="1687963" cy="242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Nova Sonic</a:t>
            </a:r>
            <a:endParaRPr lang="en-US" sz="1453" dirty="0"/>
          </a:p>
        </p:txBody>
      </p:sp>
      <p:sp>
        <p:nvSpPr>
          <p:cNvPr id="11" name="Text 8"/>
          <p:cNvSpPr/>
          <p:nvPr/>
        </p:nvSpPr>
        <p:spPr>
          <a:xfrm>
            <a:off x="1577951" y="4029075"/>
            <a:ext cx="1094852" cy="242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Kyutai Moshi</a:t>
            </a:r>
            <a:endParaRPr lang="en-US" sz="1453" dirty="0"/>
          </a:p>
        </p:txBody>
      </p:sp>
      <p:sp>
        <p:nvSpPr>
          <p:cNvPr id="12" name="Text 9"/>
          <p:cNvSpPr/>
          <p:nvPr/>
        </p:nvSpPr>
        <p:spPr>
          <a:xfrm>
            <a:off x="1577952" y="4464845"/>
            <a:ext cx="825547" cy="242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Hume EVI</a:t>
            </a:r>
            <a:endParaRPr lang="en-US" sz="1453" dirty="0"/>
          </a:p>
        </p:txBody>
      </p:sp>
      <p:sp>
        <p:nvSpPr>
          <p:cNvPr id="13" name="Text 10"/>
          <p:cNvSpPr/>
          <p:nvPr/>
        </p:nvSpPr>
        <p:spPr>
          <a:xfrm>
            <a:off x="1577952" y="4900613"/>
            <a:ext cx="1679947" cy="242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 SeamlessM4T</a:t>
            </a:r>
            <a:endParaRPr lang="en-US" sz="1453" dirty="0"/>
          </a:p>
        </p:txBody>
      </p:sp>
      <p:sp>
        <p:nvSpPr>
          <p:cNvPr id="14" name="Text 11"/>
          <p:cNvSpPr/>
          <p:nvPr/>
        </p:nvSpPr>
        <p:spPr>
          <a:xfrm>
            <a:off x="1577951" y="5431442"/>
            <a:ext cx="2533651" cy="24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Phi-4-multimodal</a:t>
            </a:r>
            <a:endParaRPr lang="en-US" sz="1453" dirty="0"/>
          </a:p>
        </p:txBody>
      </p:sp>
      <p:sp>
        <p:nvSpPr>
          <p:cNvPr id="15" name="Text 12"/>
          <p:cNvSpPr/>
          <p:nvPr/>
        </p:nvSpPr>
        <p:spPr>
          <a:xfrm>
            <a:off x="4578326" y="2476501"/>
            <a:ext cx="1434688" cy="242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Qwen-Audio Line</a:t>
            </a:r>
            <a:endParaRPr lang="en-US" sz="1453" dirty="0"/>
          </a:p>
        </p:txBody>
      </p:sp>
      <p:sp>
        <p:nvSpPr>
          <p:cNvPr id="16" name="Text 13"/>
          <p:cNvSpPr/>
          <p:nvPr/>
        </p:nvSpPr>
        <p:spPr>
          <a:xfrm>
            <a:off x="4578325" y="2912270"/>
            <a:ext cx="952184" cy="242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MiniCPM-o</a:t>
            </a:r>
            <a:endParaRPr lang="en-US" sz="1453" dirty="0"/>
          </a:p>
        </p:txBody>
      </p:sp>
      <p:sp>
        <p:nvSpPr>
          <p:cNvPr id="17" name="Text 14"/>
          <p:cNvSpPr/>
          <p:nvPr/>
        </p:nvSpPr>
        <p:spPr>
          <a:xfrm>
            <a:off x="4578326" y="3348038"/>
            <a:ext cx="1665521" cy="242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IBM Granite Speech</a:t>
            </a:r>
            <a:endParaRPr lang="en-US" sz="1453" dirty="0"/>
          </a:p>
        </p:txBody>
      </p:sp>
      <p:sp>
        <p:nvSpPr>
          <p:cNvPr id="18" name="Text 15"/>
          <p:cNvSpPr/>
          <p:nvPr/>
        </p:nvSpPr>
        <p:spPr>
          <a:xfrm>
            <a:off x="4578326" y="3783807"/>
            <a:ext cx="1538883" cy="242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NVIDIA Riva Stack</a:t>
            </a:r>
            <a:endParaRPr lang="en-US" sz="1453" dirty="0"/>
          </a:p>
        </p:txBody>
      </p:sp>
      <p:sp>
        <p:nvSpPr>
          <p:cNvPr id="19" name="Text 16"/>
          <p:cNvSpPr/>
          <p:nvPr/>
        </p:nvSpPr>
        <p:spPr>
          <a:xfrm>
            <a:off x="4578326" y="4219575"/>
            <a:ext cx="864019" cy="242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Deepgram</a:t>
            </a:r>
            <a:endParaRPr lang="en-US" sz="1453" dirty="0"/>
          </a:p>
        </p:txBody>
      </p:sp>
      <p:sp>
        <p:nvSpPr>
          <p:cNvPr id="20" name="Text 17"/>
          <p:cNvSpPr/>
          <p:nvPr/>
        </p:nvSpPr>
        <p:spPr>
          <a:xfrm>
            <a:off x="4578326" y="4655345"/>
            <a:ext cx="955390" cy="242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53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ElevenLabs</a:t>
            </a:r>
            <a:endParaRPr lang="en-US" sz="1453" dirty="0"/>
          </a:p>
        </p:txBody>
      </p:sp>
      <p:sp>
        <p:nvSpPr>
          <p:cNvPr id="21" name="Shape 18"/>
          <p:cNvSpPr/>
          <p:nvPr/>
        </p:nvSpPr>
        <p:spPr>
          <a:xfrm>
            <a:off x="1295400" y="5695951"/>
            <a:ext cx="5715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Shape 19"/>
          <p:cNvSpPr/>
          <p:nvPr/>
        </p:nvSpPr>
        <p:spPr>
          <a:xfrm>
            <a:off x="1295400" y="5695951"/>
            <a:ext cx="5715000" cy="2857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0"/>
          <p:cNvSpPr/>
          <p:nvPr/>
        </p:nvSpPr>
        <p:spPr>
          <a:xfrm>
            <a:off x="1295400" y="5695951"/>
            <a:ext cx="5715000" cy="664114"/>
          </a:xfrm>
          <a:prstGeom prst="rect">
            <a:avLst/>
          </a:prstGeom>
          <a:noFill/>
          <a:ln/>
        </p:spPr>
        <p:txBody>
          <a:bodyPr wrap="square" lIns="0" tIns="170011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rapidly growing ecosystem of end-to-end speech-language models spanning ASR, TTS, translation, and multimodal understanding.</a:t>
            </a:r>
            <a:endParaRPr lang="en-US" sz="1256" dirty="0"/>
          </a:p>
        </p:txBody>
      </p:sp>
    </p:spTree>
    <p:extLst>
      <p:ext uri="{BB962C8B-B14F-4D97-AF65-F5344CB8AC3E}">
        <p14:creationId xmlns:p14="http://schemas.microsoft.com/office/powerpoint/2010/main" val="854070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333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92704"/>
            <a:ext cx="7111975" cy="190500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Shape 1"/>
          <p:cNvSpPr/>
          <p:nvPr/>
        </p:nvSpPr>
        <p:spPr>
          <a:xfrm>
            <a:off x="6826189" y="1619251"/>
            <a:ext cx="571500" cy="571500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2"/>
          <p:cNvSpPr/>
          <p:nvPr/>
        </p:nvSpPr>
        <p:spPr>
          <a:xfrm>
            <a:off x="1015975" y="653169"/>
            <a:ext cx="2118785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80" b="1" kern="0" spc="3" dirty="0">
                <a:solidFill>
                  <a:srgbClr val="FCD3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ARCHITECTURE</a:t>
            </a:r>
            <a:endParaRPr lang="en-US" sz="1180" dirty="0"/>
          </a:p>
        </p:txBody>
      </p:sp>
      <p:sp>
        <p:nvSpPr>
          <p:cNvPr id="6" name="Text 3"/>
          <p:cNvSpPr/>
          <p:nvPr/>
        </p:nvSpPr>
        <p:spPr>
          <a:xfrm>
            <a:off x="1015975" y="950826"/>
            <a:ext cx="8425383" cy="584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67"/>
              </a:lnSpc>
            </a:pPr>
            <a:r>
              <a:rPr lang="en-US" sz="381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 Flow: </a:t>
            </a:r>
            <a:r>
              <a:rPr lang="en-US" sz="3816" b="1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SpeechLLM</a:t>
            </a:r>
            <a:endParaRPr lang="en-US" sz="3816" dirty="0"/>
          </a:p>
        </p:txBody>
      </p:sp>
      <p:sp>
        <p:nvSpPr>
          <p:cNvPr id="7" name="Text 4"/>
          <p:cNvSpPr/>
          <p:nvPr/>
        </p:nvSpPr>
        <p:spPr>
          <a:xfrm>
            <a:off x="825475" y="2252663"/>
            <a:ext cx="1218282" cy="1166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9066"/>
              </a:lnSpc>
            </a:pPr>
            <a:r>
              <a:rPr lang="en-US" sz="8290" b="1" dirty="0">
                <a:solidFill>
                  <a:srgbClr val="F1F5F9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8290" dirty="0"/>
          </a:p>
        </p:txBody>
      </p:sp>
      <p:sp>
        <p:nvSpPr>
          <p:cNvPr id="8" name="Text 5"/>
          <p:cNvSpPr/>
          <p:nvPr/>
        </p:nvSpPr>
        <p:spPr>
          <a:xfrm>
            <a:off x="1387451" y="2594632"/>
            <a:ext cx="814005" cy="190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kern="0" spc="1" dirty="0">
                <a:solidFill>
                  <a:srgbClr val="BE12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 1</a:t>
            </a:r>
            <a:endParaRPr lang="en-US" sz="1045" dirty="0"/>
          </a:p>
        </p:txBody>
      </p:sp>
      <p:sp>
        <p:nvSpPr>
          <p:cNvPr id="9" name="Text 6"/>
          <p:cNvSpPr/>
          <p:nvPr/>
        </p:nvSpPr>
        <p:spPr>
          <a:xfrm>
            <a:off x="1387451" y="2854635"/>
            <a:ext cx="1330492" cy="286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91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Q&amp;A via</a:t>
            </a:r>
            <a:endParaRPr lang="en-US" sz="1591" dirty="0"/>
          </a:p>
        </p:txBody>
      </p:sp>
      <p:sp>
        <p:nvSpPr>
          <p:cNvPr id="10" name="Text 7"/>
          <p:cNvSpPr/>
          <p:nvPr/>
        </p:nvSpPr>
        <p:spPr>
          <a:xfrm>
            <a:off x="1387451" y="3151808"/>
            <a:ext cx="843180" cy="286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91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SARVAM</a:t>
            </a:r>
            <a:endParaRPr lang="en-US" sz="1591" dirty="0"/>
          </a:p>
        </p:txBody>
      </p:sp>
      <p:sp>
        <p:nvSpPr>
          <p:cNvPr id="11" name="Shape 8"/>
          <p:cNvSpPr/>
          <p:nvPr/>
        </p:nvSpPr>
        <p:spPr>
          <a:xfrm>
            <a:off x="3984576" y="2538413"/>
            <a:ext cx="1664493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3984576" y="2538412"/>
            <a:ext cx="1664493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SARVAM API Key</a:t>
            </a:r>
            <a:endParaRPr lang="en-US" sz="118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270" y="2657475"/>
            <a:ext cx="190500" cy="1905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011019" y="2538413"/>
            <a:ext cx="1850231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1"/>
          <p:cNvSpPr/>
          <p:nvPr/>
        </p:nvSpPr>
        <p:spPr>
          <a:xfrm>
            <a:off x="6011019" y="2538412"/>
            <a:ext cx="1850231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Question (Text)</a:t>
            </a:r>
            <a:endParaRPr lang="en-US" sz="118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451" y="2657475"/>
            <a:ext cx="190500" cy="1905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3200" y="2538413"/>
            <a:ext cx="2052637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3"/>
          <p:cNvSpPr/>
          <p:nvPr/>
        </p:nvSpPr>
        <p:spPr>
          <a:xfrm>
            <a:off x="8223200" y="2538412"/>
            <a:ext cx="2052637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 Answer (Text)</a:t>
            </a:r>
            <a:endParaRPr lang="en-US" sz="118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2038" y="2652713"/>
            <a:ext cx="190500" cy="1905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984576" y="3048001"/>
            <a:ext cx="1743075" cy="428625"/>
          </a:xfrm>
          <a:prstGeom prst="rect">
            <a:avLst/>
          </a:prstGeom>
          <a:solidFill>
            <a:srgbClr val="EFF6FF"/>
          </a:solidFill>
          <a:ln w="9144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5"/>
          <p:cNvSpPr/>
          <p:nvPr/>
        </p:nvSpPr>
        <p:spPr>
          <a:xfrm>
            <a:off x="3984576" y="3048000"/>
            <a:ext cx="1743075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to Speech</a:t>
            </a:r>
            <a:endParaRPr lang="en-US" sz="1180" dirty="0"/>
          </a:p>
        </p:txBody>
      </p:sp>
      <p:sp>
        <p:nvSpPr>
          <p:cNvPr id="22" name="Text 16"/>
          <p:cNvSpPr/>
          <p:nvPr/>
        </p:nvSpPr>
        <p:spPr>
          <a:xfrm>
            <a:off x="825475" y="3438526"/>
            <a:ext cx="1218282" cy="1166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9066"/>
              </a:lnSpc>
            </a:pPr>
            <a:r>
              <a:rPr lang="en-US" sz="8290" b="1" dirty="0">
                <a:solidFill>
                  <a:srgbClr val="F1F5F9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8290" dirty="0"/>
          </a:p>
        </p:txBody>
      </p:sp>
      <p:sp>
        <p:nvSpPr>
          <p:cNvPr id="23" name="Text 17"/>
          <p:cNvSpPr/>
          <p:nvPr/>
        </p:nvSpPr>
        <p:spPr>
          <a:xfrm>
            <a:off x="1387451" y="3780495"/>
            <a:ext cx="814005" cy="190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kern="0" spc="1" dirty="0">
                <a:solidFill>
                  <a:srgbClr val="BE12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 2</a:t>
            </a:r>
            <a:endParaRPr lang="en-US" sz="1045" dirty="0"/>
          </a:p>
        </p:txBody>
      </p:sp>
      <p:sp>
        <p:nvSpPr>
          <p:cNvPr id="24" name="Text 18"/>
          <p:cNvSpPr/>
          <p:nvPr/>
        </p:nvSpPr>
        <p:spPr>
          <a:xfrm>
            <a:off x="1387451" y="4040497"/>
            <a:ext cx="1586973" cy="286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91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Document-Based</a:t>
            </a:r>
            <a:endParaRPr lang="en-US" sz="1591" dirty="0"/>
          </a:p>
        </p:txBody>
      </p:sp>
      <p:sp>
        <p:nvSpPr>
          <p:cNvPr id="25" name="Text 19"/>
          <p:cNvSpPr/>
          <p:nvPr/>
        </p:nvSpPr>
        <p:spPr>
          <a:xfrm>
            <a:off x="1387451" y="4337671"/>
            <a:ext cx="464871" cy="286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91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Q&amp;A </a:t>
            </a:r>
            <a:endParaRPr lang="en-US" sz="1591" dirty="0"/>
          </a:p>
        </p:txBody>
      </p:sp>
      <p:sp>
        <p:nvSpPr>
          <p:cNvPr id="26" name="Shape 20"/>
          <p:cNvSpPr/>
          <p:nvPr/>
        </p:nvSpPr>
        <p:spPr>
          <a:xfrm>
            <a:off x="3984577" y="3724276"/>
            <a:ext cx="1716881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1"/>
          <p:cNvSpPr/>
          <p:nvPr/>
        </p:nvSpPr>
        <p:spPr>
          <a:xfrm>
            <a:off x="3984577" y="3724275"/>
            <a:ext cx="1716881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&amp; Clean Text</a:t>
            </a:r>
            <a:endParaRPr lang="en-US" sz="118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7657" y="3843338"/>
            <a:ext cx="190500" cy="1905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063407" y="3724276"/>
            <a:ext cx="1762125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3"/>
          <p:cNvSpPr/>
          <p:nvPr/>
        </p:nvSpPr>
        <p:spPr>
          <a:xfrm>
            <a:off x="6063407" y="3724275"/>
            <a:ext cx="1762125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to Vectors</a:t>
            </a:r>
            <a:endParaRPr lang="en-US" sz="118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1733" y="3843338"/>
            <a:ext cx="190500" cy="19050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8187482" y="3724276"/>
            <a:ext cx="2155031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25"/>
          <p:cNvSpPr/>
          <p:nvPr/>
        </p:nvSpPr>
        <p:spPr>
          <a:xfrm>
            <a:off x="8187482" y="3724275"/>
            <a:ext cx="2155031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User Question</a:t>
            </a:r>
            <a:endParaRPr lang="en-US" sz="118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8714" y="3843338"/>
            <a:ext cx="190500" cy="19050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3984577" y="4238626"/>
            <a:ext cx="2166937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27"/>
          <p:cNvSpPr/>
          <p:nvPr/>
        </p:nvSpPr>
        <p:spPr>
          <a:xfrm>
            <a:off x="3984577" y="4238625"/>
            <a:ext cx="2166937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 Relevant Answer</a:t>
            </a:r>
            <a:endParaRPr lang="en-US" sz="118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714" y="4357689"/>
            <a:ext cx="190500" cy="190500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6513463" y="4238626"/>
            <a:ext cx="1743075" cy="428625"/>
          </a:xfrm>
          <a:prstGeom prst="rect">
            <a:avLst/>
          </a:prstGeom>
          <a:solidFill>
            <a:srgbClr val="EFF6FF"/>
          </a:solidFill>
          <a:ln w="9144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29"/>
          <p:cNvSpPr/>
          <p:nvPr/>
        </p:nvSpPr>
        <p:spPr>
          <a:xfrm>
            <a:off x="6513463" y="4238625"/>
            <a:ext cx="1743075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to Speech</a:t>
            </a:r>
            <a:endParaRPr lang="en-US" sz="1180" dirty="0"/>
          </a:p>
        </p:txBody>
      </p:sp>
      <p:sp>
        <p:nvSpPr>
          <p:cNvPr id="40" name="Text 30"/>
          <p:cNvSpPr/>
          <p:nvPr/>
        </p:nvSpPr>
        <p:spPr>
          <a:xfrm>
            <a:off x="825475" y="4643438"/>
            <a:ext cx="1218282" cy="1166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9066"/>
              </a:lnSpc>
            </a:pPr>
            <a:r>
              <a:rPr lang="en-US" sz="8290" b="1" dirty="0">
                <a:solidFill>
                  <a:srgbClr val="F1F5F9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8290" dirty="0"/>
          </a:p>
        </p:txBody>
      </p:sp>
      <p:sp>
        <p:nvSpPr>
          <p:cNvPr id="41" name="Text 31"/>
          <p:cNvSpPr/>
          <p:nvPr/>
        </p:nvSpPr>
        <p:spPr>
          <a:xfrm>
            <a:off x="1387451" y="5147332"/>
            <a:ext cx="814005" cy="190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kern="0" spc="1" dirty="0">
                <a:solidFill>
                  <a:srgbClr val="BE12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 3</a:t>
            </a:r>
            <a:endParaRPr lang="en-US" sz="1045" dirty="0"/>
          </a:p>
        </p:txBody>
      </p:sp>
      <p:sp>
        <p:nvSpPr>
          <p:cNvPr id="42" name="Text 32"/>
          <p:cNvSpPr/>
          <p:nvPr/>
        </p:nvSpPr>
        <p:spPr>
          <a:xfrm>
            <a:off x="1387451" y="5407335"/>
            <a:ext cx="1551707" cy="286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91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Multilingual Q&amp;A</a:t>
            </a:r>
            <a:endParaRPr lang="en-US" sz="1591" dirty="0"/>
          </a:p>
        </p:txBody>
      </p:sp>
      <p:sp>
        <p:nvSpPr>
          <p:cNvPr id="43" name="Text 33"/>
          <p:cNvSpPr/>
          <p:nvPr/>
        </p:nvSpPr>
        <p:spPr>
          <a:xfrm>
            <a:off x="1387451" y="5704508"/>
            <a:ext cx="1195840" cy="286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91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Dataset</a:t>
            </a:r>
            <a:endParaRPr lang="en-US" sz="1591" dirty="0"/>
          </a:p>
        </p:txBody>
      </p:sp>
      <p:sp>
        <p:nvSpPr>
          <p:cNvPr id="44" name="Shape 34"/>
          <p:cNvSpPr/>
          <p:nvPr/>
        </p:nvSpPr>
        <p:spPr>
          <a:xfrm>
            <a:off x="3984577" y="4929189"/>
            <a:ext cx="1638300" cy="361951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35"/>
          <p:cNvSpPr/>
          <p:nvPr/>
        </p:nvSpPr>
        <p:spPr>
          <a:xfrm>
            <a:off x="3984577" y="4929188"/>
            <a:ext cx="1638300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Q&amp;A Dataset</a:t>
            </a:r>
            <a:endParaRPr lang="en-US" sz="1045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9077" y="5014913"/>
            <a:ext cx="190500" cy="190500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5984826" y="4929189"/>
            <a:ext cx="1588293" cy="361951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Text 37"/>
          <p:cNvSpPr/>
          <p:nvPr/>
        </p:nvSpPr>
        <p:spPr>
          <a:xfrm>
            <a:off x="5984826" y="4929188"/>
            <a:ext cx="1588293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Embeddings</a:t>
            </a:r>
            <a:endParaRPr lang="en-US" sz="1045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9319" y="5014913"/>
            <a:ext cx="190500" cy="190500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7935070" y="4929189"/>
            <a:ext cx="1921669" cy="361951"/>
          </a:xfrm>
          <a:prstGeom prst="rect">
            <a:avLst/>
          </a:prstGeom>
          <a:solidFill>
            <a:srgbClr val="FFF1F2"/>
          </a:solidFill>
          <a:ln w="9144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Text 39"/>
          <p:cNvSpPr/>
          <p:nvPr/>
        </p:nvSpPr>
        <p:spPr>
          <a:xfrm>
            <a:off x="7935070" y="4929188"/>
            <a:ext cx="1921669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Speech Question to Text</a:t>
            </a:r>
            <a:endParaRPr lang="en-US" sz="1045" dirty="0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2938" y="5019675"/>
            <a:ext cx="190500" cy="190500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3984577" y="5381626"/>
            <a:ext cx="1716881" cy="361951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4" name="Text 41"/>
          <p:cNvSpPr/>
          <p:nvPr/>
        </p:nvSpPr>
        <p:spPr>
          <a:xfrm>
            <a:off x="3984577" y="5381625"/>
            <a:ext cx="1716881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Similar Question</a:t>
            </a:r>
            <a:endParaRPr lang="en-US" sz="1045" dirty="0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7657" y="5467351"/>
            <a:ext cx="190500" cy="190500"/>
          </a:xfrm>
          <a:prstGeom prst="rect">
            <a:avLst/>
          </a:prstGeom>
        </p:spPr>
      </p:pic>
      <p:sp>
        <p:nvSpPr>
          <p:cNvPr id="56" name="Shape 42"/>
          <p:cNvSpPr/>
          <p:nvPr/>
        </p:nvSpPr>
        <p:spPr>
          <a:xfrm>
            <a:off x="6063407" y="5381626"/>
            <a:ext cx="1371600" cy="361951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7" name="Text 43"/>
          <p:cNvSpPr/>
          <p:nvPr/>
        </p:nvSpPr>
        <p:spPr>
          <a:xfrm>
            <a:off x="6063407" y="5381625"/>
            <a:ext cx="1371600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Answer</a:t>
            </a:r>
            <a:endParaRPr lang="en-US" sz="1045" dirty="0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1207" y="5467351"/>
            <a:ext cx="190500" cy="190500"/>
          </a:xfrm>
          <a:prstGeom prst="rect">
            <a:avLst/>
          </a:prstGeom>
        </p:spPr>
      </p:pic>
      <p:sp>
        <p:nvSpPr>
          <p:cNvPr id="59" name="Shape 44"/>
          <p:cNvSpPr/>
          <p:nvPr/>
        </p:nvSpPr>
        <p:spPr>
          <a:xfrm>
            <a:off x="7796956" y="5381626"/>
            <a:ext cx="1445419" cy="361951"/>
          </a:xfrm>
          <a:prstGeom prst="rect">
            <a:avLst/>
          </a:prstGeom>
          <a:solidFill>
            <a:srgbClr val="FEF3C7"/>
          </a:solidFill>
          <a:ln w="9144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0" name="Text 45"/>
          <p:cNvSpPr/>
          <p:nvPr/>
        </p:nvSpPr>
        <p:spPr>
          <a:xfrm>
            <a:off x="7796956" y="5381625"/>
            <a:ext cx="1445419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Translate Answer</a:t>
            </a:r>
            <a:endParaRPr lang="en-US" sz="1045" dirty="0"/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8577" y="5467351"/>
            <a:ext cx="190500" cy="190500"/>
          </a:xfrm>
          <a:prstGeom prst="rect">
            <a:avLst/>
          </a:prstGeom>
        </p:spPr>
      </p:pic>
      <p:sp>
        <p:nvSpPr>
          <p:cNvPr id="62" name="Shape 46"/>
          <p:cNvSpPr/>
          <p:nvPr/>
        </p:nvSpPr>
        <p:spPr>
          <a:xfrm>
            <a:off x="9604326" y="5381626"/>
            <a:ext cx="1512093" cy="361951"/>
          </a:xfrm>
          <a:prstGeom prst="rect">
            <a:avLst/>
          </a:prstGeom>
          <a:solidFill>
            <a:srgbClr val="EFF6FF"/>
          </a:solidFill>
          <a:ln w="9144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3" name="Text 47"/>
          <p:cNvSpPr/>
          <p:nvPr/>
        </p:nvSpPr>
        <p:spPr>
          <a:xfrm>
            <a:off x="9604326" y="5381625"/>
            <a:ext cx="1512093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to Speech</a:t>
            </a:r>
            <a:endParaRPr lang="en-US" sz="1045" dirty="0"/>
          </a:p>
        </p:txBody>
      </p:sp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4577" y="5919789"/>
            <a:ext cx="190500" cy="190500"/>
          </a:xfrm>
          <a:prstGeom prst="rect">
            <a:avLst/>
          </a:prstGeom>
        </p:spPr>
      </p:pic>
      <p:sp>
        <p:nvSpPr>
          <p:cNvPr id="65" name="Shape 48"/>
          <p:cNvSpPr/>
          <p:nvPr/>
        </p:nvSpPr>
        <p:spPr>
          <a:xfrm>
            <a:off x="4270325" y="5834063"/>
            <a:ext cx="981075" cy="361951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6" name="Text 49"/>
          <p:cNvSpPr/>
          <p:nvPr/>
        </p:nvSpPr>
        <p:spPr>
          <a:xfrm>
            <a:off x="4270325" y="5834063"/>
            <a:ext cx="981075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Play Audio</a:t>
            </a:r>
            <a:endParaRPr lang="en-US" sz="104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01E80-DFD1-AFC0-A5E3-4711CCC5E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0801"/>
          </a:xfrm>
        </p:spPr>
        <p:txBody>
          <a:bodyPr>
            <a:normAutofit fontScale="90000"/>
          </a:bodyPr>
          <a:lstStyle/>
          <a:p>
            <a:r>
              <a:rPr lang="en-US" dirty="0"/>
              <a:t>Sarvam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E5F54-1FD2-6BDD-17E5-B324CA261E91}"/>
              </a:ext>
            </a:extLst>
          </p:cNvPr>
          <p:cNvSpPr txBox="1"/>
          <p:nvPr/>
        </p:nvSpPr>
        <p:spPr>
          <a:xfrm>
            <a:off x="2567094" y="328915"/>
            <a:ext cx="4999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How to Create SARVAM API Key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F8D725-1633-687D-2C55-9C6564C7A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16" y="1636059"/>
            <a:ext cx="5351584" cy="46915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1D2886-8FAC-9C96-9440-8320B0268199}"/>
              </a:ext>
            </a:extLst>
          </p:cNvPr>
          <p:cNvSpPr txBox="1"/>
          <p:nvPr/>
        </p:nvSpPr>
        <p:spPr>
          <a:xfrm>
            <a:off x="575733" y="1219200"/>
            <a:ext cx="895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Step-1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30DD44-F68A-5F42-E618-7F87F06B8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656" y="1588532"/>
            <a:ext cx="7125344" cy="43222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A2AAC4-A4A4-169F-2194-CBD72C570DD7}"/>
              </a:ext>
            </a:extLst>
          </p:cNvPr>
          <p:cNvSpPr txBox="1"/>
          <p:nvPr/>
        </p:nvSpPr>
        <p:spPr>
          <a:xfrm>
            <a:off x="5066656" y="1219200"/>
            <a:ext cx="914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Step-2</a:t>
            </a:r>
          </a:p>
        </p:txBody>
      </p:sp>
    </p:spTree>
    <p:extLst>
      <p:ext uri="{BB962C8B-B14F-4D97-AF65-F5344CB8AC3E}">
        <p14:creationId xmlns:p14="http://schemas.microsoft.com/office/powerpoint/2010/main" val="3011879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7997-1BDE-CD18-49AC-56B709A63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5407"/>
          </a:xfrm>
        </p:spPr>
        <p:txBody>
          <a:bodyPr>
            <a:normAutofit fontScale="90000"/>
          </a:bodyPr>
          <a:lstStyle/>
          <a:p>
            <a:r>
              <a:rPr lang="en-US" dirty="0"/>
              <a:t>SARVAM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5AB91-C58A-0563-9DC0-3D48214D2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1111"/>
            <a:ext cx="5992837" cy="5525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7DED7F-F6B9-2ACD-928A-790FD51B0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837" y="1411111"/>
            <a:ext cx="6199163" cy="55259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174C10-5B24-C6D1-41D1-40649DD1792A}"/>
              </a:ext>
            </a:extLst>
          </p:cNvPr>
          <p:cNvSpPr txBox="1"/>
          <p:nvPr/>
        </p:nvSpPr>
        <p:spPr>
          <a:xfrm>
            <a:off x="112889" y="961155"/>
            <a:ext cx="914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Step-3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8A214F-E967-782D-38E5-20E04B8E8EAB}"/>
              </a:ext>
            </a:extLst>
          </p:cNvPr>
          <p:cNvSpPr txBox="1"/>
          <p:nvPr/>
        </p:nvSpPr>
        <p:spPr>
          <a:xfrm>
            <a:off x="6096000" y="983733"/>
            <a:ext cx="914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Step-4</a:t>
            </a:r>
          </a:p>
        </p:txBody>
      </p:sp>
    </p:spTree>
    <p:extLst>
      <p:ext uri="{BB962C8B-B14F-4D97-AF65-F5344CB8AC3E}">
        <p14:creationId xmlns:p14="http://schemas.microsoft.com/office/powerpoint/2010/main" val="3890749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182F-B087-E3CF-6FED-5D99971F3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2831"/>
          </a:xfrm>
        </p:spPr>
        <p:txBody>
          <a:bodyPr>
            <a:normAutofit fontScale="90000"/>
          </a:bodyPr>
          <a:lstStyle/>
          <a:p>
            <a:r>
              <a:rPr lang="en-US" dirty="0"/>
              <a:t>SARVAM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0D499-B808-D68F-1D3F-8EF08E516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1751829"/>
            <a:ext cx="7772400" cy="6724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57C273-4E61-A549-3F22-2DE32C96A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3059289"/>
            <a:ext cx="6085232" cy="3323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BCD563-C978-263C-E280-A3AEA3981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044" y="3149224"/>
            <a:ext cx="5937956" cy="32334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E68C94-0CA2-EC93-98F7-0C5AF4D7ABCD}"/>
              </a:ext>
            </a:extLst>
          </p:cNvPr>
          <p:cNvSpPr txBox="1"/>
          <p:nvPr/>
        </p:nvSpPr>
        <p:spPr>
          <a:xfrm>
            <a:off x="168812" y="1249677"/>
            <a:ext cx="914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Step-5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FD2AFD-1938-36EF-70D4-E37148D57A07}"/>
              </a:ext>
            </a:extLst>
          </p:cNvPr>
          <p:cNvSpPr txBox="1"/>
          <p:nvPr/>
        </p:nvSpPr>
        <p:spPr>
          <a:xfrm>
            <a:off x="168812" y="2512882"/>
            <a:ext cx="914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Step-6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90CC7-06AA-4D19-CD6C-2E41AED757B0}"/>
              </a:ext>
            </a:extLst>
          </p:cNvPr>
          <p:cNvSpPr txBox="1"/>
          <p:nvPr/>
        </p:nvSpPr>
        <p:spPr>
          <a:xfrm>
            <a:off x="6491110" y="2557136"/>
            <a:ext cx="9047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Step-7</a:t>
            </a:r>
          </a:p>
        </p:txBody>
      </p:sp>
    </p:spTree>
    <p:extLst>
      <p:ext uri="{BB962C8B-B14F-4D97-AF65-F5344CB8AC3E}">
        <p14:creationId xmlns:p14="http://schemas.microsoft.com/office/powerpoint/2010/main" val="3577300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5975" y="849399"/>
            <a:ext cx="1410771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80" b="1" kern="0" spc="3" dirty="0">
                <a:solidFill>
                  <a:srgbClr val="BE12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CAPABILITIES</a:t>
            </a:r>
            <a:endParaRPr lang="en-US" sz="1180" dirty="0"/>
          </a:p>
        </p:txBody>
      </p:sp>
      <p:sp>
        <p:nvSpPr>
          <p:cNvPr id="4" name="Text 1"/>
          <p:cNvSpPr/>
          <p:nvPr/>
        </p:nvSpPr>
        <p:spPr>
          <a:xfrm>
            <a:off x="1015976" y="1147057"/>
            <a:ext cx="7338547" cy="662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5333"/>
              </a:lnSpc>
            </a:pPr>
            <a:r>
              <a:rPr lang="en-US" sz="4392" b="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SARVAM's Model Ecosystem</a:t>
            </a:r>
            <a:endParaRPr lang="en-US" sz="4392" dirty="0"/>
          </a:p>
        </p:txBody>
      </p:sp>
      <p:sp>
        <p:nvSpPr>
          <p:cNvPr id="5" name="Shape 2"/>
          <p:cNvSpPr/>
          <p:nvPr/>
        </p:nvSpPr>
        <p:spPr>
          <a:xfrm>
            <a:off x="1" y="2286000"/>
            <a:ext cx="4063975" cy="4572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2344714" y="2457451"/>
            <a:ext cx="1423467" cy="1143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9672" b="1" dirty="0">
                <a:solidFill>
                  <a:srgbClr val="FFFFFF">
                    <a:alpha val="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9672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1" y="2667000"/>
            <a:ext cx="3492475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5751" y="3295651"/>
            <a:ext cx="3492475" cy="725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3"/>
              </a:lnSpc>
            </a:pPr>
            <a:r>
              <a:rPr lang="en-US" sz="213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&amp;
Conversational</a:t>
            </a:r>
            <a:endParaRPr lang="en-US" sz="2136" dirty="0"/>
          </a:p>
        </p:txBody>
      </p:sp>
      <p:sp>
        <p:nvSpPr>
          <p:cNvPr id="9" name="Text 5"/>
          <p:cNvSpPr/>
          <p:nvPr/>
        </p:nvSpPr>
        <p:spPr>
          <a:xfrm>
            <a:off x="285751" y="4122391"/>
            <a:ext cx="700192" cy="147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911" b="1" kern="0" spc="1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MODELS</a:t>
            </a:r>
            <a:endParaRPr lang="en-US" sz="911" dirty="0"/>
          </a:p>
        </p:txBody>
      </p:sp>
      <p:sp>
        <p:nvSpPr>
          <p:cNvPr id="10" name="Text 6"/>
          <p:cNvSpPr/>
          <p:nvPr/>
        </p:nvSpPr>
        <p:spPr>
          <a:xfrm>
            <a:off x="285751" y="4336703"/>
            <a:ext cx="1744067" cy="271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453" b="1" dirty="0">
                <a:solidFill>
                  <a:srgbClr val="FCD3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Sarvam-M, Samvaad</a:t>
            </a:r>
            <a:endParaRPr lang="en-US" sz="1453" dirty="0"/>
          </a:p>
        </p:txBody>
      </p:sp>
      <p:sp>
        <p:nvSpPr>
          <p:cNvPr id="11" name="Text 7"/>
          <p:cNvSpPr/>
          <p:nvPr/>
        </p:nvSpPr>
        <p:spPr>
          <a:xfrm>
            <a:off x="285751" y="4763394"/>
            <a:ext cx="3492475" cy="748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language model and conversational AI tailored specifically for Indian languages and cultural contexts.</a:t>
            </a:r>
            <a:endParaRPr lang="en-US" sz="1256" dirty="0"/>
          </a:p>
        </p:txBody>
      </p:sp>
      <p:sp>
        <p:nvSpPr>
          <p:cNvPr id="12" name="Shape 8"/>
          <p:cNvSpPr/>
          <p:nvPr/>
        </p:nvSpPr>
        <p:spPr>
          <a:xfrm>
            <a:off x="4063975" y="2286000"/>
            <a:ext cx="4063975" cy="457200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9"/>
          <p:cNvSpPr/>
          <p:nvPr/>
        </p:nvSpPr>
        <p:spPr>
          <a:xfrm>
            <a:off x="6408689" y="2457451"/>
            <a:ext cx="1423467" cy="1143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9672" b="1" dirty="0">
                <a:solidFill>
                  <a:srgbClr val="FFFFFF">
                    <a:alpha val="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9672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725" y="2667000"/>
            <a:ext cx="3492475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9725" y="3295651"/>
            <a:ext cx="3492475" cy="725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3"/>
              </a:lnSpc>
            </a:pPr>
            <a:r>
              <a:rPr lang="en-US" sz="213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Neural
Translation</a:t>
            </a:r>
            <a:endParaRPr lang="en-US" sz="2136" dirty="0"/>
          </a:p>
        </p:txBody>
      </p:sp>
      <p:sp>
        <p:nvSpPr>
          <p:cNvPr id="16" name="Text 11"/>
          <p:cNvSpPr/>
          <p:nvPr/>
        </p:nvSpPr>
        <p:spPr>
          <a:xfrm>
            <a:off x="4349726" y="4122391"/>
            <a:ext cx="700192" cy="147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911" b="1" kern="0" spc="1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MODELS</a:t>
            </a:r>
            <a:endParaRPr lang="en-US" sz="911" dirty="0"/>
          </a:p>
        </p:txBody>
      </p:sp>
      <p:sp>
        <p:nvSpPr>
          <p:cNvPr id="17" name="Text 12"/>
          <p:cNvSpPr/>
          <p:nvPr/>
        </p:nvSpPr>
        <p:spPr>
          <a:xfrm>
            <a:off x="4349725" y="4336703"/>
            <a:ext cx="2232984" cy="271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453" b="1" dirty="0">
                <a:solidFill>
                  <a:srgbClr val="FCD3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Mayura, Sarvam-Translate</a:t>
            </a:r>
            <a:endParaRPr lang="en-US" sz="1453" dirty="0"/>
          </a:p>
        </p:txBody>
      </p:sp>
      <p:sp>
        <p:nvSpPr>
          <p:cNvPr id="18" name="Text 13"/>
          <p:cNvSpPr/>
          <p:nvPr/>
        </p:nvSpPr>
        <p:spPr>
          <a:xfrm>
            <a:off x="4349725" y="4763394"/>
            <a:ext cx="3492475" cy="748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High-quality neural machine translation delivering accurate cross-lingual communication across Indian languages.</a:t>
            </a:r>
            <a:endParaRPr lang="en-US" sz="1256" dirty="0"/>
          </a:p>
        </p:txBody>
      </p:sp>
      <p:sp>
        <p:nvSpPr>
          <p:cNvPr id="19" name="Shape 14"/>
          <p:cNvSpPr/>
          <p:nvPr/>
        </p:nvSpPr>
        <p:spPr>
          <a:xfrm>
            <a:off x="8127951" y="2286000"/>
            <a:ext cx="4064012" cy="4572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5"/>
          <p:cNvSpPr/>
          <p:nvPr/>
        </p:nvSpPr>
        <p:spPr>
          <a:xfrm>
            <a:off x="10472701" y="2457451"/>
            <a:ext cx="1423467" cy="1143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9672" b="1" dirty="0">
                <a:solidFill>
                  <a:srgbClr val="FFFFFF">
                    <a:alpha val="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9672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3700" y="2667000"/>
            <a:ext cx="3492512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3700" y="3295651"/>
            <a:ext cx="3492512" cy="725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3"/>
              </a:lnSpc>
            </a:pPr>
            <a:r>
              <a:rPr lang="en-US" sz="2136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Speech
Processing</a:t>
            </a:r>
            <a:endParaRPr lang="en-US" sz="2136" dirty="0"/>
          </a:p>
        </p:txBody>
      </p:sp>
      <p:sp>
        <p:nvSpPr>
          <p:cNvPr id="23" name="Text 17"/>
          <p:cNvSpPr/>
          <p:nvPr/>
        </p:nvSpPr>
        <p:spPr>
          <a:xfrm>
            <a:off x="8413700" y="4122391"/>
            <a:ext cx="700192" cy="147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911" b="1" kern="0" spc="1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MODELS</a:t>
            </a:r>
            <a:endParaRPr lang="en-US" sz="911" dirty="0"/>
          </a:p>
        </p:txBody>
      </p:sp>
      <p:sp>
        <p:nvSpPr>
          <p:cNvPr id="24" name="Text 18"/>
          <p:cNvSpPr/>
          <p:nvPr/>
        </p:nvSpPr>
        <p:spPr>
          <a:xfrm>
            <a:off x="8413700" y="4336703"/>
            <a:ext cx="3492512" cy="566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453" b="1" dirty="0">
                <a:solidFill>
                  <a:srgbClr val="FCD3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Saarika (STT), Bulbul (TTS), Saaras (STT Translate)</a:t>
            </a:r>
            <a:endParaRPr lang="en-US" sz="1453" dirty="0"/>
          </a:p>
        </p:txBody>
      </p:sp>
      <p:sp>
        <p:nvSpPr>
          <p:cNvPr id="25" name="Text 19"/>
          <p:cNvSpPr/>
          <p:nvPr/>
        </p:nvSpPr>
        <p:spPr>
          <a:xfrm>
            <a:off x="8413700" y="5056734"/>
            <a:ext cx="3492512" cy="748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256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speech pipeline providing robust acoustic foundations for Indian language audio processing.</a:t>
            </a:r>
            <a:endParaRPr lang="en-US" sz="125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0AD6-0E9B-0CBE-C177-05A0A9B2D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67A7764-505F-B6FD-BD2B-E6AEAE568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333"/>
            <a:ext cx="12192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F89EEB6-984D-1975-077D-203E03523227}"/>
              </a:ext>
            </a:extLst>
          </p:cNvPr>
          <p:cNvSpPr/>
          <p:nvPr/>
        </p:nvSpPr>
        <p:spPr>
          <a:xfrm>
            <a:off x="0" y="-192704"/>
            <a:ext cx="7111975" cy="190500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69D81FE-CFBB-ACC1-FC06-A97A0DDBFA9E}"/>
              </a:ext>
            </a:extLst>
          </p:cNvPr>
          <p:cNvSpPr/>
          <p:nvPr/>
        </p:nvSpPr>
        <p:spPr>
          <a:xfrm>
            <a:off x="6826189" y="1619251"/>
            <a:ext cx="571500" cy="571500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519C610-2402-59AF-5E24-54843057875F}"/>
              </a:ext>
            </a:extLst>
          </p:cNvPr>
          <p:cNvSpPr/>
          <p:nvPr/>
        </p:nvSpPr>
        <p:spPr>
          <a:xfrm>
            <a:off x="1015975" y="653169"/>
            <a:ext cx="2118785" cy="194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80" b="1" kern="0" spc="3">
                <a:solidFill>
                  <a:srgbClr val="FCD3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ARCHITECTURE</a:t>
            </a:r>
            <a:endParaRPr lang="en-US" sz="118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4C402E5-886F-35E0-1510-F5C7384B951C}"/>
              </a:ext>
            </a:extLst>
          </p:cNvPr>
          <p:cNvSpPr/>
          <p:nvPr/>
        </p:nvSpPr>
        <p:spPr>
          <a:xfrm>
            <a:off x="1015975" y="950826"/>
            <a:ext cx="8425383" cy="584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67"/>
              </a:lnSpc>
            </a:pPr>
            <a:r>
              <a:rPr lang="en-US" sz="3816" b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 Flow: </a:t>
            </a:r>
            <a:r>
              <a:rPr lang="en-US" sz="3816" b="1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SpeechLLM</a:t>
            </a:r>
            <a:endParaRPr lang="en-US" sz="3816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66F9E58-BACF-F36A-CC08-F9306C54029B}"/>
              </a:ext>
            </a:extLst>
          </p:cNvPr>
          <p:cNvSpPr/>
          <p:nvPr/>
        </p:nvSpPr>
        <p:spPr>
          <a:xfrm>
            <a:off x="825475" y="2252663"/>
            <a:ext cx="1218282" cy="1166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9066"/>
              </a:lnSpc>
            </a:pPr>
            <a:r>
              <a:rPr lang="en-US" sz="8290" b="1">
                <a:solidFill>
                  <a:srgbClr val="F1F5F9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829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F195E26-941B-D624-9F1C-FF726C7A66A4}"/>
              </a:ext>
            </a:extLst>
          </p:cNvPr>
          <p:cNvSpPr/>
          <p:nvPr/>
        </p:nvSpPr>
        <p:spPr>
          <a:xfrm>
            <a:off x="1387451" y="2594632"/>
            <a:ext cx="814005" cy="190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kern="0" spc="1">
                <a:solidFill>
                  <a:srgbClr val="BE12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 1</a:t>
            </a:r>
            <a:endParaRPr lang="en-US" sz="1045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67B7AF3-99AC-B1D6-6E5E-FDC34AC30C0B}"/>
              </a:ext>
            </a:extLst>
          </p:cNvPr>
          <p:cNvSpPr/>
          <p:nvPr/>
        </p:nvSpPr>
        <p:spPr>
          <a:xfrm>
            <a:off x="1387451" y="2854635"/>
            <a:ext cx="1330492" cy="286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91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Q&amp;A via</a:t>
            </a:r>
            <a:endParaRPr lang="en-US" sz="1591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E87DCE9-1A26-3004-BA8E-37E0D7A4C9C9}"/>
              </a:ext>
            </a:extLst>
          </p:cNvPr>
          <p:cNvSpPr/>
          <p:nvPr/>
        </p:nvSpPr>
        <p:spPr>
          <a:xfrm>
            <a:off x="1387451" y="3151808"/>
            <a:ext cx="843180" cy="286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91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SARVAM</a:t>
            </a:r>
            <a:endParaRPr lang="en-US" sz="1591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9CA4A51-F55B-1F9B-A16F-FFE88054596D}"/>
              </a:ext>
            </a:extLst>
          </p:cNvPr>
          <p:cNvSpPr/>
          <p:nvPr/>
        </p:nvSpPr>
        <p:spPr>
          <a:xfrm>
            <a:off x="3984576" y="2538413"/>
            <a:ext cx="1664493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DC4B35D-75D1-27DC-98BE-A4D4FB961EA3}"/>
              </a:ext>
            </a:extLst>
          </p:cNvPr>
          <p:cNvSpPr/>
          <p:nvPr/>
        </p:nvSpPr>
        <p:spPr>
          <a:xfrm>
            <a:off x="3984576" y="2538412"/>
            <a:ext cx="1664493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SARVAM API Key</a:t>
            </a:r>
            <a:endParaRPr lang="en-US" sz="118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AB91497-11CD-4F40-AA08-526CDFE7E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270" y="2657475"/>
            <a:ext cx="190500" cy="190500"/>
          </a:xfrm>
          <a:prstGeom prst="rect">
            <a:avLst/>
          </a:prstGeom>
        </p:spPr>
      </p:pic>
      <p:sp>
        <p:nvSpPr>
          <p:cNvPr id="14" name="Shape 10">
            <a:extLst>
              <a:ext uri="{FF2B5EF4-FFF2-40B4-BE49-F238E27FC236}">
                <a16:creationId xmlns:a16="http://schemas.microsoft.com/office/drawing/2014/main" id="{565EAA3F-5776-323C-DBCE-28CB2EBAED83}"/>
              </a:ext>
            </a:extLst>
          </p:cNvPr>
          <p:cNvSpPr/>
          <p:nvPr/>
        </p:nvSpPr>
        <p:spPr>
          <a:xfrm>
            <a:off x="6011019" y="2538413"/>
            <a:ext cx="1850231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E6C04A7-E392-F16F-E922-41895D0DF628}"/>
              </a:ext>
            </a:extLst>
          </p:cNvPr>
          <p:cNvSpPr/>
          <p:nvPr/>
        </p:nvSpPr>
        <p:spPr>
          <a:xfrm>
            <a:off x="6011019" y="2538412"/>
            <a:ext cx="1850231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Question (Text)</a:t>
            </a:r>
            <a:endParaRPr lang="en-US" sz="1180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1D9C4A76-CA36-95FA-5849-B938886FB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451" y="2657475"/>
            <a:ext cx="190500" cy="190500"/>
          </a:xfrm>
          <a:prstGeom prst="rect">
            <a:avLst/>
          </a:prstGeom>
        </p:spPr>
      </p:pic>
      <p:sp>
        <p:nvSpPr>
          <p:cNvPr id="17" name="Shape 12">
            <a:extLst>
              <a:ext uri="{FF2B5EF4-FFF2-40B4-BE49-F238E27FC236}">
                <a16:creationId xmlns:a16="http://schemas.microsoft.com/office/drawing/2014/main" id="{E1923F77-2F89-9296-781D-64E6CD27FF31}"/>
              </a:ext>
            </a:extLst>
          </p:cNvPr>
          <p:cNvSpPr/>
          <p:nvPr/>
        </p:nvSpPr>
        <p:spPr>
          <a:xfrm>
            <a:off x="8223200" y="2538413"/>
            <a:ext cx="2052637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58CB275-B454-3D97-0CB4-921BC1340ED5}"/>
              </a:ext>
            </a:extLst>
          </p:cNvPr>
          <p:cNvSpPr/>
          <p:nvPr/>
        </p:nvSpPr>
        <p:spPr>
          <a:xfrm>
            <a:off x="8223200" y="2538412"/>
            <a:ext cx="2052637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 Answer (Text)</a:t>
            </a:r>
            <a:endParaRPr lang="en-US" sz="1180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A8A22F28-ECBB-7DE2-A880-D04C7D7FE6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2038" y="2652713"/>
            <a:ext cx="190500" cy="190500"/>
          </a:xfrm>
          <a:prstGeom prst="rect">
            <a:avLst/>
          </a:prstGeom>
        </p:spPr>
      </p:pic>
      <p:sp>
        <p:nvSpPr>
          <p:cNvPr id="20" name="Shape 14">
            <a:extLst>
              <a:ext uri="{FF2B5EF4-FFF2-40B4-BE49-F238E27FC236}">
                <a16:creationId xmlns:a16="http://schemas.microsoft.com/office/drawing/2014/main" id="{466AFF0E-CCFE-F44B-F660-7E3580FA7A74}"/>
              </a:ext>
            </a:extLst>
          </p:cNvPr>
          <p:cNvSpPr/>
          <p:nvPr/>
        </p:nvSpPr>
        <p:spPr>
          <a:xfrm>
            <a:off x="3984576" y="3048001"/>
            <a:ext cx="1743075" cy="428625"/>
          </a:xfrm>
          <a:prstGeom prst="rect">
            <a:avLst/>
          </a:prstGeom>
          <a:solidFill>
            <a:srgbClr val="EFF6FF"/>
          </a:solidFill>
          <a:ln w="9144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F43AA43E-0DAC-6085-AAD6-B1FA636E0E4F}"/>
              </a:ext>
            </a:extLst>
          </p:cNvPr>
          <p:cNvSpPr/>
          <p:nvPr/>
        </p:nvSpPr>
        <p:spPr>
          <a:xfrm>
            <a:off x="3984576" y="3048000"/>
            <a:ext cx="1743075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to Speech</a:t>
            </a:r>
            <a:endParaRPr lang="en-US" sz="118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A7FAA5A1-E237-6B97-49E8-51D85B3CF8E3}"/>
              </a:ext>
            </a:extLst>
          </p:cNvPr>
          <p:cNvSpPr/>
          <p:nvPr/>
        </p:nvSpPr>
        <p:spPr>
          <a:xfrm>
            <a:off x="825475" y="3438526"/>
            <a:ext cx="1218282" cy="1166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9066"/>
              </a:lnSpc>
            </a:pPr>
            <a:r>
              <a:rPr lang="en-US" sz="8290" b="1">
                <a:solidFill>
                  <a:srgbClr val="F1F5F9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829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53DD76C0-4FBA-C34E-2598-794D288D2436}"/>
              </a:ext>
            </a:extLst>
          </p:cNvPr>
          <p:cNvSpPr/>
          <p:nvPr/>
        </p:nvSpPr>
        <p:spPr>
          <a:xfrm>
            <a:off x="1387451" y="3780495"/>
            <a:ext cx="814005" cy="190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kern="0" spc="1">
                <a:solidFill>
                  <a:srgbClr val="BE12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 2</a:t>
            </a:r>
            <a:endParaRPr lang="en-US" sz="1045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13C94844-0F7B-D1F5-7649-4BA361ABF734}"/>
              </a:ext>
            </a:extLst>
          </p:cNvPr>
          <p:cNvSpPr/>
          <p:nvPr/>
        </p:nvSpPr>
        <p:spPr>
          <a:xfrm>
            <a:off x="1387451" y="4040497"/>
            <a:ext cx="1586973" cy="286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91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Document-Based</a:t>
            </a:r>
            <a:endParaRPr lang="en-US" sz="1591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5D64F8A9-B21D-7786-1DD4-2A71DE053B49}"/>
              </a:ext>
            </a:extLst>
          </p:cNvPr>
          <p:cNvSpPr/>
          <p:nvPr/>
        </p:nvSpPr>
        <p:spPr>
          <a:xfrm>
            <a:off x="1387451" y="4337671"/>
            <a:ext cx="464871" cy="286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91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Q&amp;A </a:t>
            </a:r>
            <a:endParaRPr lang="en-US" sz="1591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FE96ACA3-65EB-9795-C4FB-34757246E20F}"/>
              </a:ext>
            </a:extLst>
          </p:cNvPr>
          <p:cNvSpPr/>
          <p:nvPr/>
        </p:nvSpPr>
        <p:spPr>
          <a:xfrm>
            <a:off x="3984577" y="3724276"/>
            <a:ext cx="1716881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EB728AAB-E198-5F1C-F29A-DF5638D48EA5}"/>
              </a:ext>
            </a:extLst>
          </p:cNvPr>
          <p:cNvSpPr/>
          <p:nvPr/>
        </p:nvSpPr>
        <p:spPr>
          <a:xfrm>
            <a:off x="3984577" y="3724275"/>
            <a:ext cx="1716881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&amp; Clean Text</a:t>
            </a:r>
            <a:endParaRPr lang="en-US" sz="1180"/>
          </a:p>
        </p:txBody>
      </p:sp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CFB9CB68-2F16-67CA-FA3C-3D7D2C010F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7657" y="3843338"/>
            <a:ext cx="190500" cy="190500"/>
          </a:xfrm>
          <a:prstGeom prst="rect">
            <a:avLst/>
          </a:prstGeom>
        </p:spPr>
      </p:pic>
      <p:sp>
        <p:nvSpPr>
          <p:cNvPr id="29" name="Shape 22">
            <a:extLst>
              <a:ext uri="{FF2B5EF4-FFF2-40B4-BE49-F238E27FC236}">
                <a16:creationId xmlns:a16="http://schemas.microsoft.com/office/drawing/2014/main" id="{1F664ECA-30A3-4AE3-8CAB-FD30B8A2B24D}"/>
              </a:ext>
            </a:extLst>
          </p:cNvPr>
          <p:cNvSpPr/>
          <p:nvPr/>
        </p:nvSpPr>
        <p:spPr>
          <a:xfrm>
            <a:off x="6063407" y="3724276"/>
            <a:ext cx="1762125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CDCB9558-D1D2-0E4F-7129-3488A92E941B}"/>
              </a:ext>
            </a:extLst>
          </p:cNvPr>
          <p:cNvSpPr/>
          <p:nvPr/>
        </p:nvSpPr>
        <p:spPr>
          <a:xfrm>
            <a:off x="6063407" y="3724275"/>
            <a:ext cx="1762125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to Vectors</a:t>
            </a:r>
            <a:endParaRPr lang="en-US" sz="1180"/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37E68870-170E-1C43-740D-FFEEFCD500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1733" y="3843338"/>
            <a:ext cx="190500" cy="190500"/>
          </a:xfrm>
          <a:prstGeom prst="rect">
            <a:avLst/>
          </a:prstGeom>
        </p:spPr>
      </p:pic>
      <p:sp>
        <p:nvSpPr>
          <p:cNvPr id="32" name="Shape 24">
            <a:extLst>
              <a:ext uri="{FF2B5EF4-FFF2-40B4-BE49-F238E27FC236}">
                <a16:creationId xmlns:a16="http://schemas.microsoft.com/office/drawing/2014/main" id="{21808DD9-47BE-74EB-3956-1F29F4C3878A}"/>
              </a:ext>
            </a:extLst>
          </p:cNvPr>
          <p:cNvSpPr/>
          <p:nvPr/>
        </p:nvSpPr>
        <p:spPr>
          <a:xfrm>
            <a:off x="8187482" y="3724276"/>
            <a:ext cx="2155031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3804194D-752C-8455-DF54-E52E076227DC}"/>
              </a:ext>
            </a:extLst>
          </p:cNvPr>
          <p:cNvSpPr/>
          <p:nvPr/>
        </p:nvSpPr>
        <p:spPr>
          <a:xfrm>
            <a:off x="8187482" y="3724275"/>
            <a:ext cx="2155031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User Question</a:t>
            </a:r>
            <a:endParaRPr lang="en-US" sz="1180"/>
          </a:p>
        </p:txBody>
      </p:sp>
      <p:pic>
        <p:nvPicPr>
          <p:cNvPr id="34" name="Image 6" descr="preencoded.png">
            <a:extLst>
              <a:ext uri="{FF2B5EF4-FFF2-40B4-BE49-F238E27FC236}">
                <a16:creationId xmlns:a16="http://schemas.microsoft.com/office/drawing/2014/main" id="{DBAC9A0B-7366-342F-12D9-018631B75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8714" y="3843338"/>
            <a:ext cx="190500" cy="190500"/>
          </a:xfrm>
          <a:prstGeom prst="rect">
            <a:avLst/>
          </a:prstGeom>
        </p:spPr>
      </p:pic>
      <p:sp>
        <p:nvSpPr>
          <p:cNvPr id="35" name="Shape 26">
            <a:extLst>
              <a:ext uri="{FF2B5EF4-FFF2-40B4-BE49-F238E27FC236}">
                <a16:creationId xmlns:a16="http://schemas.microsoft.com/office/drawing/2014/main" id="{776EFA3B-B632-99E2-5431-A8EC4647AFEF}"/>
              </a:ext>
            </a:extLst>
          </p:cNvPr>
          <p:cNvSpPr/>
          <p:nvPr/>
        </p:nvSpPr>
        <p:spPr>
          <a:xfrm>
            <a:off x="3984577" y="4238626"/>
            <a:ext cx="2166937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E2F89838-0685-3088-2A57-85854A7FE0A6}"/>
              </a:ext>
            </a:extLst>
          </p:cNvPr>
          <p:cNvSpPr/>
          <p:nvPr/>
        </p:nvSpPr>
        <p:spPr>
          <a:xfrm>
            <a:off x="3984577" y="4238625"/>
            <a:ext cx="2166937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 Relevant Answer</a:t>
            </a:r>
            <a:endParaRPr lang="en-US" sz="1180"/>
          </a:p>
        </p:txBody>
      </p:sp>
      <p:pic>
        <p:nvPicPr>
          <p:cNvPr id="37" name="Image 7" descr="preencoded.png">
            <a:extLst>
              <a:ext uri="{FF2B5EF4-FFF2-40B4-BE49-F238E27FC236}">
                <a16:creationId xmlns:a16="http://schemas.microsoft.com/office/drawing/2014/main" id="{57E92CC0-2C83-AEF7-4992-8487752D47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714" y="4357689"/>
            <a:ext cx="190500" cy="190500"/>
          </a:xfrm>
          <a:prstGeom prst="rect">
            <a:avLst/>
          </a:prstGeom>
        </p:spPr>
      </p:pic>
      <p:sp>
        <p:nvSpPr>
          <p:cNvPr id="38" name="Shape 28">
            <a:extLst>
              <a:ext uri="{FF2B5EF4-FFF2-40B4-BE49-F238E27FC236}">
                <a16:creationId xmlns:a16="http://schemas.microsoft.com/office/drawing/2014/main" id="{F56CFB6B-9E5C-03F9-763A-127C83A5C8A8}"/>
              </a:ext>
            </a:extLst>
          </p:cNvPr>
          <p:cNvSpPr/>
          <p:nvPr/>
        </p:nvSpPr>
        <p:spPr>
          <a:xfrm>
            <a:off x="6513463" y="4238626"/>
            <a:ext cx="1743075" cy="428625"/>
          </a:xfrm>
          <a:prstGeom prst="rect">
            <a:avLst/>
          </a:prstGeom>
          <a:solidFill>
            <a:srgbClr val="EFF6FF"/>
          </a:solidFill>
          <a:ln w="9144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276055DC-78E5-A147-3D3C-39C743F9B7D0}"/>
              </a:ext>
            </a:extLst>
          </p:cNvPr>
          <p:cNvSpPr/>
          <p:nvPr/>
        </p:nvSpPr>
        <p:spPr>
          <a:xfrm>
            <a:off x="6513463" y="4238625"/>
            <a:ext cx="1743075" cy="416632"/>
          </a:xfrm>
          <a:prstGeom prst="rect">
            <a:avLst/>
          </a:prstGeom>
          <a:noFill/>
          <a:ln/>
        </p:spPr>
        <p:txBody>
          <a:bodyPr wrap="square" lIns="181356" tIns="90763" rIns="181356" bIns="90763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80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to Speech</a:t>
            </a:r>
            <a:endParaRPr lang="en-US" sz="1180"/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9FFFC346-365D-11E0-FA08-FED17C7E16DD}"/>
              </a:ext>
            </a:extLst>
          </p:cNvPr>
          <p:cNvSpPr/>
          <p:nvPr/>
        </p:nvSpPr>
        <p:spPr>
          <a:xfrm>
            <a:off x="825475" y="4643438"/>
            <a:ext cx="1218282" cy="1166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9066"/>
              </a:lnSpc>
            </a:pPr>
            <a:r>
              <a:rPr lang="en-US" sz="8290" b="1">
                <a:solidFill>
                  <a:srgbClr val="F1F5F9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8290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2265E9D3-BBCF-B14C-81E2-80FF5CB5104E}"/>
              </a:ext>
            </a:extLst>
          </p:cNvPr>
          <p:cNvSpPr/>
          <p:nvPr/>
        </p:nvSpPr>
        <p:spPr>
          <a:xfrm>
            <a:off x="1387451" y="5147332"/>
            <a:ext cx="814005" cy="190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45" b="1" kern="0" spc="1">
                <a:solidFill>
                  <a:srgbClr val="BE12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 3</a:t>
            </a:r>
            <a:endParaRPr lang="en-US" sz="1045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1CDF4BAA-2288-2739-7C94-34D3D59CF4D9}"/>
              </a:ext>
            </a:extLst>
          </p:cNvPr>
          <p:cNvSpPr/>
          <p:nvPr/>
        </p:nvSpPr>
        <p:spPr>
          <a:xfrm>
            <a:off x="1387451" y="5407335"/>
            <a:ext cx="1551707" cy="286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91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Multilingual Q&amp;A</a:t>
            </a:r>
            <a:endParaRPr lang="en-US" sz="1591"/>
          </a:p>
        </p:txBody>
      </p:sp>
      <p:sp>
        <p:nvSpPr>
          <p:cNvPr id="43" name="Text 33">
            <a:extLst>
              <a:ext uri="{FF2B5EF4-FFF2-40B4-BE49-F238E27FC236}">
                <a16:creationId xmlns:a16="http://schemas.microsoft.com/office/drawing/2014/main" id="{E262E596-7937-C492-F18B-101B5E868D23}"/>
              </a:ext>
            </a:extLst>
          </p:cNvPr>
          <p:cNvSpPr/>
          <p:nvPr/>
        </p:nvSpPr>
        <p:spPr>
          <a:xfrm>
            <a:off x="1387451" y="5704508"/>
            <a:ext cx="1195840" cy="286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591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Dataset</a:t>
            </a:r>
            <a:endParaRPr lang="en-US" sz="1591"/>
          </a:p>
        </p:txBody>
      </p:sp>
      <p:sp>
        <p:nvSpPr>
          <p:cNvPr id="44" name="Shape 34">
            <a:extLst>
              <a:ext uri="{FF2B5EF4-FFF2-40B4-BE49-F238E27FC236}">
                <a16:creationId xmlns:a16="http://schemas.microsoft.com/office/drawing/2014/main" id="{BBB9F713-F603-60B9-DB5E-555165383485}"/>
              </a:ext>
            </a:extLst>
          </p:cNvPr>
          <p:cNvSpPr/>
          <p:nvPr/>
        </p:nvSpPr>
        <p:spPr>
          <a:xfrm>
            <a:off x="3984577" y="4929189"/>
            <a:ext cx="1638300" cy="361951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35">
            <a:extLst>
              <a:ext uri="{FF2B5EF4-FFF2-40B4-BE49-F238E27FC236}">
                <a16:creationId xmlns:a16="http://schemas.microsoft.com/office/drawing/2014/main" id="{75A2B65D-B43E-751E-54D0-ACDD0AA1332E}"/>
              </a:ext>
            </a:extLst>
          </p:cNvPr>
          <p:cNvSpPr/>
          <p:nvPr/>
        </p:nvSpPr>
        <p:spPr>
          <a:xfrm>
            <a:off x="3984577" y="4929188"/>
            <a:ext cx="1638300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Q&amp;A Dataset</a:t>
            </a:r>
            <a:endParaRPr lang="en-US" sz="1045"/>
          </a:p>
        </p:txBody>
      </p:sp>
      <p:pic>
        <p:nvPicPr>
          <p:cNvPr id="46" name="Image 8" descr="preencoded.png">
            <a:extLst>
              <a:ext uri="{FF2B5EF4-FFF2-40B4-BE49-F238E27FC236}">
                <a16:creationId xmlns:a16="http://schemas.microsoft.com/office/drawing/2014/main" id="{0732F5EA-A469-E2B9-61BE-DFBBEB0A97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9077" y="5014913"/>
            <a:ext cx="190500" cy="190500"/>
          </a:xfrm>
          <a:prstGeom prst="rect">
            <a:avLst/>
          </a:prstGeom>
        </p:spPr>
      </p:pic>
      <p:sp>
        <p:nvSpPr>
          <p:cNvPr id="47" name="Shape 36">
            <a:extLst>
              <a:ext uri="{FF2B5EF4-FFF2-40B4-BE49-F238E27FC236}">
                <a16:creationId xmlns:a16="http://schemas.microsoft.com/office/drawing/2014/main" id="{454EDD94-5623-E2D1-E115-4335E261B11D}"/>
              </a:ext>
            </a:extLst>
          </p:cNvPr>
          <p:cNvSpPr/>
          <p:nvPr/>
        </p:nvSpPr>
        <p:spPr>
          <a:xfrm>
            <a:off x="5984826" y="4929189"/>
            <a:ext cx="1588293" cy="361951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D5DFFE93-445E-854E-5D03-45D62D0AB731}"/>
              </a:ext>
            </a:extLst>
          </p:cNvPr>
          <p:cNvSpPr/>
          <p:nvPr/>
        </p:nvSpPr>
        <p:spPr>
          <a:xfrm>
            <a:off x="5984826" y="4929188"/>
            <a:ext cx="1588293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Embeddings</a:t>
            </a:r>
            <a:endParaRPr lang="en-US" sz="1045"/>
          </a:p>
        </p:txBody>
      </p:sp>
      <p:pic>
        <p:nvPicPr>
          <p:cNvPr id="49" name="Image 9" descr="preencoded.png">
            <a:extLst>
              <a:ext uri="{FF2B5EF4-FFF2-40B4-BE49-F238E27FC236}">
                <a16:creationId xmlns:a16="http://schemas.microsoft.com/office/drawing/2014/main" id="{AC81058A-91DC-76D4-7C64-E659E0496F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9319" y="5014913"/>
            <a:ext cx="190500" cy="190500"/>
          </a:xfrm>
          <a:prstGeom prst="rect">
            <a:avLst/>
          </a:prstGeom>
        </p:spPr>
      </p:pic>
      <p:sp>
        <p:nvSpPr>
          <p:cNvPr id="50" name="Shape 38">
            <a:extLst>
              <a:ext uri="{FF2B5EF4-FFF2-40B4-BE49-F238E27FC236}">
                <a16:creationId xmlns:a16="http://schemas.microsoft.com/office/drawing/2014/main" id="{9370F5E7-8E5E-0019-1CD4-B12864F8FA35}"/>
              </a:ext>
            </a:extLst>
          </p:cNvPr>
          <p:cNvSpPr/>
          <p:nvPr/>
        </p:nvSpPr>
        <p:spPr>
          <a:xfrm>
            <a:off x="7935070" y="4929189"/>
            <a:ext cx="1921669" cy="361951"/>
          </a:xfrm>
          <a:prstGeom prst="rect">
            <a:avLst/>
          </a:prstGeom>
          <a:solidFill>
            <a:srgbClr val="FFF1F2"/>
          </a:solidFill>
          <a:ln w="9144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A00B4DD1-2A50-238C-2CD2-0A446C88D9BF}"/>
              </a:ext>
            </a:extLst>
          </p:cNvPr>
          <p:cNvSpPr/>
          <p:nvPr/>
        </p:nvSpPr>
        <p:spPr>
          <a:xfrm>
            <a:off x="7935070" y="4929188"/>
            <a:ext cx="1921669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Speech Question to Text</a:t>
            </a:r>
            <a:endParaRPr lang="en-US" sz="1045"/>
          </a:p>
        </p:txBody>
      </p:sp>
      <p:pic>
        <p:nvPicPr>
          <p:cNvPr id="52" name="Image 10" descr="preencoded.png">
            <a:extLst>
              <a:ext uri="{FF2B5EF4-FFF2-40B4-BE49-F238E27FC236}">
                <a16:creationId xmlns:a16="http://schemas.microsoft.com/office/drawing/2014/main" id="{0B4D635E-840F-E891-2174-17CE48DCD1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2938" y="5019675"/>
            <a:ext cx="190500" cy="190500"/>
          </a:xfrm>
          <a:prstGeom prst="rect">
            <a:avLst/>
          </a:prstGeom>
        </p:spPr>
      </p:pic>
      <p:sp>
        <p:nvSpPr>
          <p:cNvPr id="53" name="Shape 40">
            <a:extLst>
              <a:ext uri="{FF2B5EF4-FFF2-40B4-BE49-F238E27FC236}">
                <a16:creationId xmlns:a16="http://schemas.microsoft.com/office/drawing/2014/main" id="{A12B4F87-BD1A-B4F4-6042-17E4D0C8A36D}"/>
              </a:ext>
            </a:extLst>
          </p:cNvPr>
          <p:cNvSpPr/>
          <p:nvPr/>
        </p:nvSpPr>
        <p:spPr>
          <a:xfrm>
            <a:off x="3984577" y="5381626"/>
            <a:ext cx="1716881" cy="361951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4" name="Text 41">
            <a:extLst>
              <a:ext uri="{FF2B5EF4-FFF2-40B4-BE49-F238E27FC236}">
                <a16:creationId xmlns:a16="http://schemas.microsoft.com/office/drawing/2014/main" id="{D2D66247-3E72-A176-A439-9750F7CD0C3B}"/>
              </a:ext>
            </a:extLst>
          </p:cNvPr>
          <p:cNvSpPr/>
          <p:nvPr/>
        </p:nvSpPr>
        <p:spPr>
          <a:xfrm>
            <a:off x="3984577" y="5381625"/>
            <a:ext cx="1716881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Similar Question</a:t>
            </a:r>
            <a:endParaRPr lang="en-US" sz="1045"/>
          </a:p>
        </p:txBody>
      </p:sp>
      <p:pic>
        <p:nvPicPr>
          <p:cNvPr id="55" name="Image 11" descr="preencoded.png">
            <a:extLst>
              <a:ext uri="{FF2B5EF4-FFF2-40B4-BE49-F238E27FC236}">
                <a16:creationId xmlns:a16="http://schemas.microsoft.com/office/drawing/2014/main" id="{946DB117-6501-DFF3-92E2-9928702ADB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7657" y="5467351"/>
            <a:ext cx="190500" cy="190500"/>
          </a:xfrm>
          <a:prstGeom prst="rect">
            <a:avLst/>
          </a:prstGeom>
        </p:spPr>
      </p:pic>
      <p:sp>
        <p:nvSpPr>
          <p:cNvPr id="56" name="Shape 42">
            <a:extLst>
              <a:ext uri="{FF2B5EF4-FFF2-40B4-BE49-F238E27FC236}">
                <a16:creationId xmlns:a16="http://schemas.microsoft.com/office/drawing/2014/main" id="{6294B8FA-A315-367A-3483-92E4DEE74917}"/>
              </a:ext>
            </a:extLst>
          </p:cNvPr>
          <p:cNvSpPr/>
          <p:nvPr/>
        </p:nvSpPr>
        <p:spPr>
          <a:xfrm>
            <a:off x="6063407" y="5381626"/>
            <a:ext cx="1371600" cy="361951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7" name="Text 43">
            <a:extLst>
              <a:ext uri="{FF2B5EF4-FFF2-40B4-BE49-F238E27FC236}">
                <a16:creationId xmlns:a16="http://schemas.microsoft.com/office/drawing/2014/main" id="{1FADBC36-971B-0930-625C-D311BECDD471}"/>
              </a:ext>
            </a:extLst>
          </p:cNvPr>
          <p:cNvSpPr/>
          <p:nvPr/>
        </p:nvSpPr>
        <p:spPr>
          <a:xfrm>
            <a:off x="6063407" y="5381625"/>
            <a:ext cx="1371600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Answer</a:t>
            </a:r>
            <a:endParaRPr lang="en-US" sz="1045"/>
          </a:p>
        </p:txBody>
      </p:sp>
      <p:pic>
        <p:nvPicPr>
          <p:cNvPr id="58" name="Image 12" descr="preencoded.png">
            <a:extLst>
              <a:ext uri="{FF2B5EF4-FFF2-40B4-BE49-F238E27FC236}">
                <a16:creationId xmlns:a16="http://schemas.microsoft.com/office/drawing/2014/main" id="{CB14F22E-E0A2-E9A5-3C89-C5616D9D4F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1207" y="5467351"/>
            <a:ext cx="190500" cy="190500"/>
          </a:xfrm>
          <a:prstGeom prst="rect">
            <a:avLst/>
          </a:prstGeom>
        </p:spPr>
      </p:pic>
      <p:sp>
        <p:nvSpPr>
          <p:cNvPr id="59" name="Shape 44">
            <a:extLst>
              <a:ext uri="{FF2B5EF4-FFF2-40B4-BE49-F238E27FC236}">
                <a16:creationId xmlns:a16="http://schemas.microsoft.com/office/drawing/2014/main" id="{0729BAC0-813D-7BA5-8889-43FDA4250140}"/>
              </a:ext>
            </a:extLst>
          </p:cNvPr>
          <p:cNvSpPr/>
          <p:nvPr/>
        </p:nvSpPr>
        <p:spPr>
          <a:xfrm>
            <a:off x="7796956" y="5381626"/>
            <a:ext cx="1445419" cy="361951"/>
          </a:xfrm>
          <a:prstGeom prst="rect">
            <a:avLst/>
          </a:prstGeom>
          <a:solidFill>
            <a:srgbClr val="FEF3C7"/>
          </a:solidFill>
          <a:ln w="9144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0" name="Text 45">
            <a:extLst>
              <a:ext uri="{FF2B5EF4-FFF2-40B4-BE49-F238E27FC236}">
                <a16:creationId xmlns:a16="http://schemas.microsoft.com/office/drawing/2014/main" id="{8DCF48E8-D6FB-10C2-ADF2-B6D3169D1F64}"/>
              </a:ext>
            </a:extLst>
          </p:cNvPr>
          <p:cNvSpPr/>
          <p:nvPr/>
        </p:nvSpPr>
        <p:spPr>
          <a:xfrm>
            <a:off x="7796956" y="5381625"/>
            <a:ext cx="1445419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Translate Answer</a:t>
            </a:r>
            <a:endParaRPr lang="en-US" sz="1045"/>
          </a:p>
        </p:txBody>
      </p:sp>
      <p:pic>
        <p:nvPicPr>
          <p:cNvPr id="61" name="Image 13" descr="preencoded.png">
            <a:extLst>
              <a:ext uri="{FF2B5EF4-FFF2-40B4-BE49-F238E27FC236}">
                <a16:creationId xmlns:a16="http://schemas.microsoft.com/office/drawing/2014/main" id="{47F68234-474B-D635-5BC6-7BFE11BEB6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8577" y="5467351"/>
            <a:ext cx="190500" cy="190500"/>
          </a:xfrm>
          <a:prstGeom prst="rect">
            <a:avLst/>
          </a:prstGeom>
        </p:spPr>
      </p:pic>
      <p:sp>
        <p:nvSpPr>
          <p:cNvPr id="62" name="Shape 46">
            <a:extLst>
              <a:ext uri="{FF2B5EF4-FFF2-40B4-BE49-F238E27FC236}">
                <a16:creationId xmlns:a16="http://schemas.microsoft.com/office/drawing/2014/main" id="{B1B94B1E-C77C-4C74-E1FF-A8869B1B5739}"/>
              </a:ext>
            </a:extLst>
          </p:cNvPr>
          <p:cNvSpPr/>
          <p:nvPr/>
        </p:nvSpPr>
        <p:spPr>
          <a:xfrm>
            <a:off x="9604326" y="5381626"/>
            <a:ext cx="1512093" cy="361951"/>
          </a:xfrm>
          <a:prstGeom prst="rect">
            <a:avLst/>
          </a:prstGeom>
          <a:solidFill>
            <a:srgbClr val="EFF6FF"/>
          </a:solidFill>
          <a:ln w="9144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3" name="Text 47">
            <a:extLst>
              <a:ext uri="{FF2B5EF4-FFF2-40B4-BE49-F238E27FC236}">
                <a16:creationId xmlns:a16="http://schemas.microsoft.com/office/drawing/2014/main" id="{1FE8B01F-8FF4-0CBD-640F-CDD06C750684}"/>
              </a:ext>
            </a:extLst>
          </p:cNvPr>
          <p:cNvSpPr/>
          <p:nvPr/>
        </p:nvSpPr>
        <p:spPr>
          <a:xfrm>
            <a:off x="9604326" y="5381625"/>
            <a:ext cx="1512093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to Speech</a:t>
            </a:r>
            <a:endParaRPr lang="en-US" sz="1045"/>
          </a:p>
        </p:txBody>
      </p:sp>
      <p:pic>
        <p:nvPicPr>
          <p:cNvPr id="64" name="Image 14" descr="preencoded.png">
            <a:extLst>
              <a:ext uri="{FF2B5EF4-FFF2-40B4-BE49-F238E27FC236}">
                <a16:creationId xmlns:a16="http://schemas.microsoft.com/office/drawing/2014/main" id="{DBFE3F8F-1130-7975-856E-18A6690169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4577" y="5919789"/>
            <a:ext cx="190500" cy="190500"/>
          </a:xfrm>
          <a:prstGeom prst="rect">
            <a:avLst/>
          </a:prstGeom>
        </p:spPr>
      </p:pic>
      <p:sp>
        <p:nvSpPr>
          <p:cNvPr id="65" name="Shape 48">
            <a:extLst>
              <a:ext uri="{FF2B5EF4-FFF2-40B4-BE49-F238E27FC236}">
                <a16:creationId xmlns:a16="http://schemas.microsoft.com/office/drawing/2014/main" id="{ED4B38DF-9BFE-1012-19D5-CF3F065B903B}"/>
              </a:ext>
            </a:extLst>
          </p:cNvPr>
          <p:cNvSpPr/>
          <p:nvPr/>
        </p:nvSpPr>
        <p:spPr>
          <a:xfrm>
            <a:off x="4270325" y="5834063"/>
            <a:ext cx="981075" cy="361951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6" name="Text 49">
            <a:extLst>
              <a:ext uri="{FF2B5EF4-FFF2-40B4-BE49-F238E27FC236}">
                <a16:creationId xmlns:a16="http://schemas.microsoft.com/office/drawing/2014/main" id="{E0A533BD-DFCE-F162-E5B0-2D1522591359}"/>
              </a:ext>
            </a:extLst>
          </p:cNvPr>
          <p:cNvSpPr/>
          <p:nvPr/>
        </p:nvSpPr>
        <p:spPr>
          <a:xfrm>
            <a:off x="4270325" y="5834063"/>
            <a:ext cx="981075" cy="356508"/>
          </a:xfrm>
          <a:prstGeom prst="rect">
            <a:avLst/>
          </a:prstGeom>
          <a:noFill/>
          <a:ln/>
        </p:spPr>
        <p:txBody>
          <a:bodyPr wrap="square" lIns="136144" tIns="68072" rIns="136144" bIns="68072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Play Audio</a:t>
            </a:r>
            <a:endParaRPr lang="en-US" sz="1045"/>
          </a:p>
        </p:txBody>
      </p:sp>
    </p:spTree>
    <p:extLst>
      <p:ext uri="{BB962C8B-B14F-4D97-AF65-F5344CB8AC3E}">
        <p14:creationId xmlns:p14="http://schemas.microsoft.com/office/powerpoint/2010/main" val="2087769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5937" y="762001"/>
            <a:ext cx="9144000" cy="1923567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Shape 1"/>
          <p:cNvSpPr/>
          <p:nvPr/>
        </p:nvSpPr>
        <p:spPr>
          <a:xfrm>
            <a:off x="1015937" y="762001"/>
            <a:ext cx="152400" cy="1923567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2"/>
          <p:cNvSpPr/>
          <p:nvPr/>
        </p:nvSpPr>
        <p:spPr>
          <a:xfrm>
            <a:off x="1492189" y="1143001"/>
            <a:ext cx="5263813" cy="749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4975" b="1" kern="0" spc="-1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AUDIO + LLM</a:t>
            </a:r>
            <a:endParaRPr lang="en-US" sz="4975" dirty="0"/>
          </a:p>
        </p:txBody>
      </p:sp>
      <p:sp>
        <p:nvSpPr>
          <p:cNvPr id="6" name="Text 3"/>
          <p:cNvSpPr/>
          <p:nvPr/>
        </p:nvSpPr>
        <p:spPr>
          <a:xfrm>
            <a:off x="1492188" y="1992623"/>
            <a:ext cx="2629438" cy="3051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863" b="1" kern="0" spc="3" dirty="0">
                <a:solidFill>
                  <a:srgbClr val="BE12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DEPLOYMENT OPTIONS</a:t>
            </a:r>
            <a:endParaRPr lang="en-US" sz="1863" dirty="0"/>
          </a:p>
        </p:txBody>
      </p:sp>
      <p:sp>
        <p:nvSpPr>
          <p:cNvPr id="7" name="Text 4"/>
          <p:cNvSpPr/>
          <p:nvPr/>
        </p:nvSpPr>
        <p:spPr>
          <a:xfrm>
            <a:off x="1015975" y="2933701"/>
            <a:ext cx="1619033" cy="419709"/>
          </a:xfrm>
          <a:prstGeom prst="rect">
            <a:avLst/>
          </a:prstGeom>
          <a:noFill/>
          <a:ln/>
        </p:spPr>
        <p:txBody>
          <a:bodyPr wrap="none" lIns="0" tIns="0" rIns="0" bIns="113453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863" b="1" dirty="0">
                <a:solidFill>
                  <a:srgbClr val="BE12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 Frameworks</a:t>
            </a:r>
            <a:endParaRPr lang="en-US" sz="1863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75" y="3588544"/>
            <a:ext cx="3810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96975" y="3569493"/>
            <a:ext cx="637995" cy="260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692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Gradio</a:t>
            </a:r>
            <a:endParaRPr lang="en-US" sz="169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975" y="3969544"/>
            <a:ext cx="3810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96976" y="3950493"/>
            <a:ext cx="873637" cy="260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692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</a:t>
            </a:r>
            <a:endParaRPr lang="en-US" sz="1692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975" y="4350544"/>
            <a:ext cx="3810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96976" y="4331493"/>
            <a:ext cx="729367" cy="260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692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Chainlit</a:t>
            </a:r>
            <a:endParaRPr lang="en-US" sz="1692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975" y="4731544"/>
            <a:ext cx="3810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96976" y="4712493"/>
            <a:ext cx="2101537" cy="260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692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Hugging Face Spaces</a:t>
            </a:r>
            <a:endParaRPr lang="en-US" sz="1692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975" y="5112544"/>
            <a:ext cx="3810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96975" y="5093493"/>
            <a:ext cx="1681551" cy="260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692" dirty="0">
                <a:solidFill>
                  <a:srgbClr val="1E29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Web App</a:t>
            </a:r>
            <a:endParaRPr lang="en-US" sz="1692" dirty="0"/>
          </a:p>
        </p:txBody>
      </p:sp>
      <p:sp>
        <p:nvSpPr>
          <p:cNvPr id="18" name="Text 10"/>
          <p:cNvSpPr/>
          <p:nvPr/>
        </p:nvSpPr>
        <p:spPr>
          <a:xfrm>
            <a:off x="6095963" y="2933701"/>
            <a:ext cx="1806585" cy="419709"/>
          </a:xfrm>
          <a:prstGeom prst="rect">
            <a:avLst/>
          </a:prstGeom>
          <a:noFill/>
          <a:ln/>
        </p:spPr>
        <p:txBody>
          <a:bodyPr wrap="none" lIns="0" tIns="0" rIns="0" bIns="113453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863" b="1" dirty="0">
                <a:solidFill>
                  <a:srgbClr val="FCD3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Realtime AI APIs</a:t>
            </a:r>
            <a:endParaRPr lang="en-US" sz="1863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963" y="3588544"/>
            <a:ext cx="381000" cy="2286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476963" y="3569493"/>
            <a:ext cx="1611018" cy="260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69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AI Studio</a:t>
            </a:r>
            <a:endParaRPr lang="en-US" sz="1692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5963" y="3969544"/>
            <a:ext cx="381000" cy="2286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476963" y="3950493"/>
            <a:ext cx="2002151" cy="260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69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 Realtime API</a:t>
            </a:r>
            <a:endParaRPr lang="en-US" sz="1692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5963" y="4350544"/>
            <a:ext cx="381000" cy="2286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476963" y="4331493"/>
            <a:ext cx="2255426" cy="260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69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Gemini Live API</a:t>
            </a:r>
            <a:endParaRPr lang="en-US" sz="1692" dirty="0"/>
          </a:p>
        </p:txBody>
      </p:sp>
      <p:sp>
        <p:nvSpPr>
          <p:cNvPr id="25" name="Shape 14"/>
          <p:cNvSpPr/>
          <p:nvPr/>
        </p:nvSpPr>
        <p:spPr>
          <a:xfrm>
            <a:off x="1015975" y="5474494"/>
            <a:ext cx="10160012" cy="819151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1726" y="5712619"/>
            <a:ext cx="257175" cy="3429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749400" y="5569745"/>
            <a:ext cx="9140837" cy="61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45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</a:t>
            </a:r>
            <a:r>
              <a:rPr lang="en-US" sz="154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Choose your stack based on deployment needs — from rapid prototyping with Gradio to production-grade custom web apps powered by Realtime APIs.</a:t>
            </a:r>
            <a:endParaRPr lang="en-US" sz="1545" dirty="0"/>
          </a:p>
        </p:txBody>
      </p:sp>
    </p:spTree>
    <p:extLst>
      <p:ext uri="{BB962C8B-B14F-4D97-AF65-F5344CB8AC3E}">
        <p14:creationId xmlns:p14="http://schemas.microsoft.com/office/powerpoint/2010/main" val="2460165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</TotalTime>
  <Words>813</Words>
  <Application>Microsoft Macintosh PowerPoint</Application>
  <PresentationFormat>Widescreen</PresentationFormat>
  <Paragraphs>208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Inter</vt:lpstr>
      <vt:lpstr>Roboto</vt:lpstr>
      <vt:lpstr>Times New Roman</vt:lpstr>
      <vt:lpstr>Office Theme</vt:lpstr>
      <vt:lpstr>PowerPoint Presentation</vt:lpstr>
      <vt:lpstr>Speech LLM Pipeline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Sarvam </vt:lpstr>
      <vt:lpstr>SARVAM</vt:lpstr>
      <vt:lpstr>SARVAM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Vasuki M</dc:creator>
  <cp:lastModifiedBy>Vasuki M</cp:lastModifiedBy>
  <cp:revision>6</cp:revision>
  <dcterms:created xsi:type="dcterms:W3CDTF">2026-04-02T04:25:27Z</dcterms:created>
  <dcterms:modified xsi:type="dcterms:W3CDTF">2026-04-03T05:57:52Z</dcterms:modified>
</cp:coreProperties>
</file>